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当前每轮实算 C(n)</c:v>
                </c:pt>
              </c:strCache>
            </c:strRef>
          </c:tx>
          <c:spPr>
            <a:ln w="28575">
              <a:solidFill>
                <a:srgbClr val="DC2626"/>
              </a:solidFill>
            </a:ln>
          </c:spPr>
          <c:marker>
            <c:symbol val="circle"/>
            <c:size val="6"/>
            <c:spPr>
              <a:solidFill>
                <a:srgbClr val="DC2626"/>
              </a:solidFill>
              <a:ln>
                <a:solidFill>
                  <a:srgbClr val="DC2626"/>
                </a:solidFill>
              </a:ln>
            </c:spPr>
          </c:marker>
          <c:dLbls>
            <c:txPr>
              <a:bodyPr/>
              <a:lstStyle/>
              <a:p>
                <a:pPr>
                  <a:defRPr sz="700">
                    <a:solidFill>
                      <a:srgbClr val="DC2626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第 1 轮  −27%</c:v>
                </c:pt>
                <c:pt idx="1">
                  <c:v>第 2 轮  −64%</c:v>
                </c:pt>
                <c:pt idx="2">
                  <c:v>第 3 轮  −71%</c:v>
                </c:pt>
                <c:pt idx="3">
                  <c:v>第 4 轮  −76%</c:v>
                </c:pt>
                <c:pt idx="4">
                  <c:v>第 5 轮  −79%</c:v>
                </c:pt>
                <c:pt idx="5">
                  <c:v>第 6 轮  −82%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21.8</c:v>
                </c:pt>
                <c:pt idx="1">
                  <c:v>29.1</c:v>
                </c:pt>
                <c:pt idx="2">
                  <c:v>36.3</c:v>
                </c:pt>
                <c:pt idx="3">
                  <c:v>43.4</c:v>
                </c:pt>
                <c:pt idx="4">
                  <c:v>50.5</c:v>
                </c:pt>
                <c:pt idx="5">
                  <c:v>57.6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目标每轮实算 T(n)</c:v>
                </c:pt>
              </c:strCache>
            </c:strRef>
          </c:tx>
          <c:spPr>
            <a:ln w="28575">
              <a:solidFill>
                <a:srgbClr val="059669"/>
              </a:solidFill>
            </a:ln>
          </c:spPr>
          <c:marker>
            <c:symbol val="circle"/>
            <c:size val="6"/>
            <c:spPr>
              <a:solidFill>
                <a:srgbClr val="059669"/>
              </a:solidFill>
              <a:ln>
                <a:solidFill>
                  <a:srgbClr val="059669"/>
                </a:solidFill>
              </a:ln>
            </c:spPr>
          </c:marker>
          <c:dLbls>
            <c:txPr>
              <a:bodyPr/>
              <a:lstStyle/>
              <a:p>
                <a:pPr>
                  <a:defRPr sz="700">
                    <a:solidFill>
                      <a:srgbClr val="059669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第 1 轮  −27%</c:v>
                </c:pt>
                <c:pt idx="1">
                  <c:v>第 2 轮  −64%</c:v>
                </c:pt>
                <c:pt idx="2">
                  <c:v>第 3 轮  −71%</c:v>
                </c:pt>
                <c:pt idx="3">
                  <c:v>第 4 轮  −76%</c:v>
                </c:pt>
                <c:pt idx="4">
                  <c:v>第 5 轮  −79%</c:v>
                </c:pt>
                <c:pt idx="5">
                  <c:v>第 6 轮  −82%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15.9</c:v>
                </c:pt>
                <c:pt idx="1">
                  <c:v>10.6</c:v>
                </c:pt>
                <c:pt idx="2">
                  <c:v>10.6</c:v>
                </c:pt>
                <c:pt idx="3">
                  <c:v>10.6</c:v>
                </c:pt>
                <c:pt idx="4">
                  <c:v>10.6</c:v>
                </c:pt>
                <c:pt idx="5">
                  <c:v>10.6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7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8F0"/>
            </a:solidFill>
          </a:ln>
        </c:spPr>
        <c:txPr>
          <a:bodyPr/>
          <a:lstStyle/>
          <a:p>
            <a:pPr>
              <a:defRPr sz="750" b="1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0.0"/>
        </c:scaling>
        <c:delete val="0"/>
        <c:axPos val="l"/>
        <c:majorGridlines>
          <c:spPr>
            <a:ln>
              <a:solidFill>
                <a:srgbClr val="E3E8F0"/>
              </a:solidFill>
            </a:ln>
          </c:spPr>
        </c:majorGridlines>
        <c:numFmt formatCode="0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7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当前实算 / session</c:v>
                </c:pt>
              </c:strCache>
            </c:strRef>
          </c:tx>
          <c:spPr>
            <a:solidFill>
              <a:srgbClr val="DC2626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47857"/>
                        </a:solidFill>
                      </a:rPr>
                      <a:t>−27%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47857"/>
                        </a:solidFill>
                      </a:rPr>
                      <a:t>−48%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47857"/>
                        </a:solidFill>
                      </a:rPr>
                      <a:t>−57%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47857"/>
                        </a:solidFill>
                      </a:rPr>
                      <a:t>−63%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47857"/>
                        </a:solidFill>
                      </a:rPr>
                      <a:t>−68%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47857"/>
                        </a:solidFill>
                      </a:rPr>
                      <a:t>−71%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47857"/>
                        </a:solidFill>
                      </a:rPr>
                      <a:t>−76%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047857"/>
                        </a:solidFill>
                      </a:rPr>
                      <a:t>−79%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 轮</c:v>
                </c:pt>
                <c:pt idx="1">
                  <c:v>2 轮</c:v>
                </c:pt>
                <c:pt idx="2">
                  <c:v>3 轮</c:v>
                </c:pt>
                <c:pt idx="3">
                  <c:v>4 轮</c:v>
                </c:pt>
                <c:pt idx="4">
                  <c:v>5 轮</c:v>
                </c:pt>
                <c:pt idx="5">
                  <c:v>6 轮</c:v>
                </c:pt>
                <c:pt idx="6">
                  <c:v>8 轮</c:v>
                </c:pt>
                <c:pt idx="7">
                  <c:v>10 轮·裁剪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51</c:v>
                </c:pt>
                <c:pt idx="2">
                  <c:v>87</c:v>
                </c:pt>
                <c:pt idx="3">
                  <c:v>131</c:v>
                </c:pt>
                <c:pt idx="4">
                  <c:v>181</c:v>
                </c:pt>
                <c:pt idx="5">
                  <c:v>239</c:v>
                </c:pt>
                <c:pt idx="6">
                  <c:v>375</c:v>
                </c:pt>
                <c:pt idx="7">
                  <c:v>540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目标实算 / session</c:v>
                </c:pt>
              </c:strCache>
            </c:strRef>
          </c:tx>
          <c:spPr>
            <a:solidFill>
              <a:srgbClr val="059669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650">
                        <a:solidFill>
                          <a:srgbClr val="059669"/>
                        </a:solidFill>
                      </a:rPr>
                      <a:t>16K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650">
                        <a:solidFill>
                          <a:srgbClr val="059669"/>
                        </a:solidFill>
                      </a:rPr>
                      <a:t>26K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650">
                        <a:solidFill>
                          <a:srgbClr val="059669"/>
                        </a:solidFill>
                      </a:rPr>
                      <a:t>37K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650">
                        <a:solidFill>
                          <a:srgbClr val="059669"/>
                        </a:solidFill>
                      </a:rPr>
                      <a:t>48K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650">
                        <a:solidFill>
                          <a:srgbClr val="059669"/>
                        </a:solidFill>
                      </a:rPr>
                      <a:t>58K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650">
                        <a:solidFill>
                          <a:srgbClr val="059669"/>
                        </a:solidFill>
                      </a:rPr>
                      <a:t>69K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650">
                        <a:solidFill>
                          <a:srgbClr val="059669"/>
                        </a:solidFill>
                      </a:rPr>
                      <a:t>90K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650">
                        <a:solidFill>
                          <a:srgbClr val="059669"/>
                        </a:solidFill>
                      </a:rPr>
                      <a:t>111K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1 轮</c:v>
                </c:pt>
                <c:pt idx="1">
                  <c:v>2 轮</c:v>
                </c:pt>
                <c:pt idx="2">
                  <c:v>3 轮</c:v>
                </c:pt>
                <c:pt idx="3">
                  <c:v>4 轮</c:v>
                </c:pt>
                <c:pt idx="4">
                  <c:v>5 轮</c:v>
                </c:pt>
                <c:pt idx="5">
                  <c:v>6 轮</c:v>
                </c:pt>
                <c:pt idx="6">
                  <c:v>8 轮</c:v>
                </c:pt>
                <c:pt idx="7">
                  <c:v>10 轮·裁剪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</c:v>
                </c:pt>
                <c:pt idx="1">
                  <c:v>26</c:v>
                </c:pt>
                <c:pt idx="2">
                  <c:v>37</c:v>
                </c:pt>
                <c:pt idx="3">
                  <c:v>48</c:v>
                </c:pt>
                <c:pt idx="4">
                  <c:v>58</c:v>
                </c:pt>
                <c:pt idx="5">
                  <c:v>69</c:v>
                </c:pt>
                <c:pt idx="6">
                  <c:v>90</c:v>
                </c:pt>
                <c:pt idx="7">
                  <c:v>111</c:v>
                </c:pt>
              </c:numCache>
            </c:numRef>
          </c:val>
        </c:ser>
        <c:dLbls>
          <c:txPr>
            <a:bodyPr/>
            <a:lstStyle/>
            <a:p>
              <a:pPr>
                <a:defRPr sz="6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8F0"/>
            </a:solidFill>
          </a:ln>
        </c:spPr>
        <c:txPr>
          <a:bodyPr/>
          <a:lstStyle/>
          <a:p>
            <a:pPr>
              <a:defRPr sz="75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</c:scaling>
        <c:delete val="0"/>
        <c:axPos val="l"/>
        <c:majorGridlines>
          <c:spPr>
            <a:ln>
              <a:solidFill>
                <a:srgbClr val="E3E8F0"/>
              </a:solidFill>
            </a:ln>
          </c:spPr>
        </c:majorGridlines>
        <c:numFmt formatCode="0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5966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21440" cy="38404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C6B84"/>
                </a:solidFill>
                <a:latin typeface="Microsoft YaHei"/>
              </a:rPr>
              <a:t>01  </a:t>
            </a:r>
            <a:r>
              <a:rPr sz="1600" b="1">
                <a:solidFill>
                  <a:srgbClr val="1F2A3D"/>
                </a:solidFill>
                <a:latin typeface="Microsoft YaHei"/>
              </a:rPr>
              <a:t>数据基线:</a:t>
            </a:r>
            <a:r>
              <a:rPr sz="1600" b="1">
                <a:solidFill>
                  <a:srgbClr val="2563EB"/>
                </a:solidFill>
                <a:latin typeface="Microsoft YaHei"/>
              </a:rPr>
              <a:t>优化前 / 优化后各模块长度</a:t>
            </a:r>
            <a:r>
              <a:rPr sz="1600" b="1">
                <a:solidFill>
                  <a:srgbClr val="1F2A3D"/>
                </a:solidFill>
                <a:latin typeface="Microsoft YaHei"/>
              </a:rPr>
              <a:t>——全稿所有数字只从这一页取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3774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C6B84"/>
                </a:solidFill>
                <a:latin typeface="Microsoft YaHei"/>
              </a:rPr>
              <a:t>K token · DS-V4 tokenizer · 两边同一份内容、只换排布,同名模块长度相同;序号 = 送给模型的物理顺序;蓝底行 = 位置变了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22960"/>
            <a:ext cx="3931920" cy="55321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374904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优化前(当前方案)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物理序 System Prompt → Tools → UAT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3192" y="1188720"/>
          <a:ext cx="3785614" cy="50337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6740"/>
                <a:gridCol w="2634180"/>
                <a:gridCol w="814694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长度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System Prompt·固定</a:t>
                      </a:r>
                      <a:r>
                        <a:rPr sz="600" b="1">
                          <a:solidFill>
                            <a:srgbClr val="3B5BDB"/>
                          </a:solidFill>
                          <a:latin typeface="Microsoft YaHei"/>
                        </a:rPr>
                        <a:t>  产品级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14 个 ## 段:角色 / 原则 / 规范 / 安全 / TOOLS.md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28.9K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563EB"/>
                          </a:solidFill>
                          <a:latin typeface="Microsoft YaHei"/>
                        </a:rPr>
                        <a:t>System Prompt·动态</a:t>
                      </a:r>
                      <a:r>
                        <a:rPr sz="600" b="1">
                          <a:solidFill>
                            <a:srgbClr val="DC2626"/>
                          </a:solidFill>
                          <a:latin typeface="Microsoft YaHei"/>
                        </a:rPr>
                        <a:t>  每 Q 重写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available skills 3 + 动态记忆 / 知识经验 0.3 + 前台应用 / 小艺状态 / 位置 0.05,写在 System Prompt 中部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3.5K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会话级上下文</a:t>
                      </a:r>
                      <a:r>
                        <a:rPr sz="600" b="1">
                          <a:solidFill>
                            <a:srgbClr val="7C3AED"/>
                          </a:solidFill>
                          <a:latin typeface="Microsoft YaHei"/>
                        </a:rPr>
                        <a:t>  会话级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user.md 0.5 + device_info 0.5 + memory.md(长期记忆)0.5,System Prompt 尾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1.5K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563EB"/>
                          </a:solidFill>
                          <a:latin typeface="Microsoft YaHei"/>
                        </a:rPr>
                        <a:t>Tools</a:t>
                      </a:r>
                      <a:r>
                        <a:rPr sz="600" b="1">
                          <a:solidFill>
                            <a:srgbClr val="3B5BDB"/>
                          </a:solidFill>
                          <a:latin typeface="Microsoft YaHei"/>
                        </a:rPr>
                        <a:t>  产品级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12 个工具 schema,chat template 拼在 System Prompt 之后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5.9K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对话历史 1–10 轮</a:t>
                      </a:r>
                      <a:r>
                        <a:rPr sz="600" b="1">
                          <a:solidFill>
                            <a:srgbClr val="7C3AED"/>
                          </a:solidFill>
                          <a:latin typeface="Microsoft YaHei"/>
                        </a:rPr>
                        <a:t>  会话级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上一会话的对话历史,会话创建时载入、大概率不在缓存,UAT 头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4K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UAT-U · query</a:t>
                      </a:r>
                      <a:r>
                        <a:rPr sz="600" b="1">
                          <a:solidFill>
                            <a:srgbClr val="D97706"/>
                          </a:solidFill>
                          <a:latin typeface="Microsoft YaHei"/>
                        </a:rPr>
                        <a:t>  query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用户原话,不含注入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0.1K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UAT-A · tool call</a:t>
                      </a:r>
                      <a:r>
                        <a:rPr sz="600" b="1">
                          <a:solidFill>
                            <a:srgbClr val="0891B2"/>
                          </a:solidFill>
                          <a:latin typeface="Microsoft YaHei"/>
                        </a:rPr>
                        <a:t>  loop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函数名 + 参数;含检索 / skill preload 伪造的 tool call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0.2K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UAT-T · 工具结果</a:t>
                      </a:r>
                      <a:r>
                        <a:rPr sz="600" b="1">
                          <a:solidFill>
                            <a:srgbClr val="0891B2"/>
                          </a:solidFill>
                          <a:latin typeface="Microsoft YaHei"/>
                        </a:rPr>
                        <a:t>  loop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检索(伪造 T)/ skill preload(伪造 T)/ 正常工具;伪造 A/T 随 U 进入、不花模型调用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10/5/2.5K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UAT-A · 最终 answer</a:t>
                      </a:r>
                      <a:r>
                        <a:rPr sz="600" b="1">
                          <a:solidFill>
                            <a:srgbClr val="D97706"/>
                          </a:solidFill>
                          <a:latin typeface="Microsoft YaHei"/>
                        </a:rPr>
                        <a:t>  query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该 Q 最后一次回复,不再调工具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0.3K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70832" y="822960"/>
            <a:ext cx="3931920" cy="55321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868680"/>
            <a:ext cx="374904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优化后(目标方案)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物理序 Tools → System Prompt → UAT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443984" y="1188720"/>
          <a:ext cx="3785614" cy="50337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6740"/>
                <a:gridCol w="2634180"/>
                <a:gridCol w="814694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长度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563EB"/>
                          </a:solidFill>
                          <a:latin typeface="Microsoft YaHei"/>
                        </a:rPr>
                        <a:t>Tools</a:t>
                      </a:r>
                      <a:r>
                        <a:rPr sz="600" b="1">
                          <a:solidFill>
                            <a:srgbClr val="3B5BDB"/>
                          </a:solidFill>
                          <a:latin typeface="Microsoft YaHei"/>
                        </a:rPr>
                        <a:t>  产品级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全量 12 个预置,排到最前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5.9K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System Prompt·固定</a:t>
                      </a:r>
                      <a:r>
                        <a:rPr sz="600" b="1">
                          <a:solidFill>
                            <a:srgbClr val="3B5BDB"/>
                          </a:solidFill>
                          <a:latin typeface="Microsoft YaHei"/>
                        </a:rPr>
                        <a:t>  产品级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同 14 段;不塞高频 skill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28.9K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会话级上下文</a:t>
                      </a:r>
                      <a:r>
                        <a:rPr sz="600" b="1">
                          <a:solidFill>
                            <a:srgbClr val="7C3AED"/>
                          </a:solidFill>
                          <a:latin typeface="Microsoft YaHei"/>
                        </a:rPr>
                        <a:t>  会话级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user.md 0.5 + device_info 0.5 + memory.md(长期记忆)0.5,System Prompt 尾;会话内不变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1.5K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对话历史 1–10 轮</a:t>
                      </a:r>
                      <a:r>
                        <a:rPr sz="600" b="1">
                          <a:solidFill>
                            <a:srgbClr val="7C3AED"/>
                          </a:solidFill>
                          <a:latin typeface="Microsoft YaHei"/>
                        </a:rPr>
                        <a:t>  会话级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上一会话的对话历史,会话创建时载入、大概率不在缓存 → 会话首调必算一次、预热可覆盖;UAT 头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4K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563EB"/>
                          </a:solidFill>
                          <a:latin typeface="Microsoft YaHei"/>
                        </a:rPr>
                        <a:t>UAT-U · 动态</a:t>
                      </a:r>
                      <a:r>
                        <a:rPr sz="600" b="1">
                          <a:solidFill>
                            <a:srgbClr val="DC2626"/>
                          </a:solidFill>
                          <a:latin typeface="Microsoft YaHei"/>
                        </a:rPr>
                        <a:t>  随 U 追加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available skills 3 + 动态记忆 / 知识经验 0.3 + 前台应用 / 小艺状态 / 位置 0.05,当轮 user 消息前半,不回写 System Prompt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3.5K</a:t>
                      </a:r>
                    </a:p>
                  </a:txBody>
                  <a:tcPr marL="45720" marR="45720" marT="9144" marB="9144" anchor="ctr">
                    <a:solidFill>
                      <a:srgbClr val="E8EEFB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UAT-U · query</a:t>
                      </a:r>
                      <a:r>
                        <a:rPr sz="600" b="1">
                          <a:solidFill>
                            <a:srgbClr val="D97706"/>
                          </a:solidFill>
                          <a:latin typeface="Microsoft YaHei"/>
                        </a:rPr>
                        <a:t>  query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当轮 user 消息后半,永远在动态之后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0.1K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UAT-A · tool call</a:t>
                      </a:r>
                      <a:r>
                        <a:rPr sz="600" b="1">
                          <a:solidFill>
                            <a:srgbClr val="0891B2"/>
                          </a:solidFill>
                          <a:latin typeface="Microsoft YaHei"/>
                        </a:rPr>
                        <a:t>  loop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函数名 + 参数;含检索 / skill preload 伪造的 tool call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0.2K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UAT-T · 工具结果</a:t>
                      </a:r>
                      <a:r>
                        <a:rPr sz="600" b="1">
                          <a:solidFill>
                            <a:srgbClr val="0891B2"/>
                          </a:solidFill>
                          <a:latin typeface="Microsoft YaHei"/>
                        </a:rPr>
                        <a:t>  loop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检索(伪造 T)/ skill preload(伪造 T)/ 正常工具;伪造 A/T 随 U 进入、不花模型调用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10/5/2.5K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563EB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A3D"/>
                          </a:solidFill>
                          <a:latin typeface="Microsoft YaHei"/>
                        </a:rPr>
                        <a:t>UAT-A · 最终 answer</a:t>
                      </a:r>
                      <a:r>
                        <a:rPr sz="600" b="1">
                          <a:solidFill>
                            <a:srgbClr val="D97706"/>
                          </a:solidFill>
                          <a:latin typeface="Microsoft YaHei"/>
                        </a:rPr>
                        <a:t>  query 级</a:t>
                      </a:r>
                    </a:p>
                    <a:p>
                      <a:pPr algn="l"/>
                      <a:r>
                        <a:rPr sz="630" b="0">
                          <a:solidFill>
                            <a:srgbClr val="5C6B84"/>
                          </a:solidFill>
                          <a:latin typeface="Microsoft YaHei"/>
                        </a:rPr>
                        <a:t>该 Q 最后一次回复,不再调工具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A3D"/>
                          </a:solidFill>
                          <a:latin typeface="Consolas"/>
                        </a:rPr>
                        <a:t>0.3K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21624" y="822960"/>
            <a:ext cx="3456432" cy="15727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868680"/>
            <a:ext cx="327355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业务占比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按 Q 统计 · 决定每轮必算与沉淀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494776" y="1170432"/>
          <a:ext cx="3310126" cy="1161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3765"/>
                <a:gridCol w="413765"/>
                <a:gridCol w="2482596"/>
              </a:tblGrid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563EB"/>
                          </a:solidFill>
                          <a:latin typeface="Microsoft YaHei"/>
                        </a:rPr>
                        <a:t>调用链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1F2A3D"/>
                          </a:solidFill>
                          <a:latin typeface="Microsoft YaHei"/>
                        </a:rPr>
                        <a:t>问答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1F2A3D"/>
                          </a:solidFill>
                          <a:latin typeface="Consolas"/>
                        </a:rPr>
                        <a:t>47%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5C6B84"/>
                          </a:solidFill>
                          <a:latin typeface="Microsoft YaHei"/>
                        </a:rPr>
                        <a:t>U → 伪造 A/T(检索 10K)→ 调① answer · 1 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1F2A3D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1F2A3D"/>
                          </a:solidFill>
                          <a:latin typeface="Consolas"/>
                        </a:rPr>
                        <a:t>25%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5C6B84"/>
                          </a:solidFill>
                          <a:latin typeface="Microsoft YaHei"/>
                        </a:rPr>
                        <a:t>U → 伪造 A/T(skill 5K)→ 调① tool call → T 工具 2.5K → 调② answer · 2 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1F2A3D"/>
                          </a:solidFill>
                          <a:latin typeface="Microsoft YaHei"/>
                        </a:rPr>
                        <a:t>闲聊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1F2A3D"/>
                          </a:solidFill>
                          <a:latin typeface="Consolas"/>
                        </a:rPr>
                        <a:t>28%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5C6B84"/>
                          </a:solidFill>
                          <a:latin typeface="Microsoft YaHei"/>
                        </a:rPr>
                        <a:t>U → 调① answer · 1 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421624" y="2487168"/>
            <a:ext cx="3456432" cy="38679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2532888"/>
            <a:ext cx="327355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session 轮数分布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实测 80k 条 · session = 拉起 app 到锁屏 / 超时重置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898648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1 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2983138"/>
            <a:ext cx="1600200" cy="13277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8208" y="2898648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82.6%</a:t>
            </a:r>
            <a:r>
              <a:rPr sz="600" b="0">
                <a:solidFill>
                  <a:srgbClr val="5C6B84"/>
                </a:solidFill>
                <a:latin typeface="Consolas"/>
              </a:rPr>
              <a:t>  66,075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3200400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2 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3284890"/>
            <a:ext cx="562101" cy="13277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8208" y="3200400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10.2%</a:t>
            </a:r>
            <a:r>
              <a:rPr sz="600" b="0">
                <a:solidFill>
                  <a:srgbClr val="5C6B84"/>
                </a:solidFill>
                <a:latin typeface="Consolas"/>
              </a:rPr>
              <a:t>  8,153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502152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3 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3586642"/>
            <a:ext cx="329819" cy="13277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08208" y="3502152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3.5%</a:t>
            </a:r>
            <a:r>
              <a:rPr sz="600" b="0">
                <a:solidFill>
                  <a:srgbClr val="5C6B84"/>
                </a:solidFill>
                <a:latin typeface="Consolas"/>
              </a:rPr>
              <a:t>  2,807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3803904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4 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3888394"/>
            <a:ext cx="214386" cy="13277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8208" y="3803904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1.5%</a:t>
            </a:r>
            <a:r>
              <a:rPr sz="600" b="0">
                <a:solidFill>
                  <a:srgbClr val="5C6B84"/>
                </a:solidFill>
                <a:latin typeface="Consolas"/>
              </a:rPr>
              <a:t>  1,186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4105656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5 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53144" y="4190146"/>
            <a:ext cx="156870" cy="132770"/>
          </a:xfrm>
          <a:prstGeom prst="roundRect">
            <a:avLst>
              <a:gd name="adj" fmla="val 3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8208" y="4105656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0.79%</a:t>
            </a:r>
            <a:r>
              <a:rPr sz="600" b="0">
                <a:solidFill>
                  <a:srgbClr val="5C6B84"/>
                </a:solidFill>
                <a:latin typeface="Consolas"/>
              </a:rPr>
              <a:t>  635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4407408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6–9 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53144" y="4491898"/>
            <a:ext cx="180960" cy="13277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8208" y="4407408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1.1%</a:t>
            </a:r>
            <a:r>
              <a:rPr sz="600" b="0">
                <a:solidFill>
                  <a:srgbClr val="5C6B84"/>
                </a:solidFill>
                <a:latin typeface="Consolas"/>
              </a:rPr>
              <a:t>  845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4709160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10–20 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53144" y="4793650"/>
            <a:ext cx="99409" cy="132770"/>
          </a:xfrm>
          <a:prstGeom prst="roundRect">
            <a:avLst>
              <a:gd name="adj" fmla="val 30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08208" y="4709160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0.32%</a:t>
            </a:r>
            <a:r>
              <a:rPr sz="600" b="0">
                <a:solidFill>
                  <a:srgbClr val="5C6B84"/>
                </a:solidFill>
                <a:latin typeface="Consolas"/>
              </a:rPr>
              <a:t>  255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5010912"/>
            <a:ext cx="566928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20 轮+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53144" y="5095402"/>
            <a:ext cx="40821" cy="132770"/>
          </a:xfrm>
          <a:prstGeom prst="roundRect">
            <a:avLst>
              <a:gd name="adj" fmla="val 30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08208" y="5010912"/>
            <a:ext cx="960120" cy="301752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Consolas"/>
              </a:rPr>
              <a:t>0.05%</a:t>
            </a:r>
            <a:r>
              <a:rPr sz="600" b="0">
                <a:solidFill>
                  <a:srgbClr val="5C6B84"/>
                </a:solidFill>
                <a:latin typeface="Consolas"/>
              </a:rPr>
              <a:t>  43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31352" y="5404104"/>
            <a:ext cx="3236976" cy="384048"/>
          </a:xfrm>
          <a:prstGeom prst="roundRect">
            <a:avLst>
              <a:gd name="adj" fmla="val 15000"/>
            </a:avLst>
          </a:prstGeom>
          <a:solidFill>
            <a:srgbClr val="ECF2FC"/>
          </a:solidFill>
          <a:ln w="9525">
            <a:solidFill>
              <a:srgbClr val="A9C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square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Consolas"/>
              </a:rPr>
              <a:t>1.35</a:t>
            </a:r>
            <a:r>
              <a:rPr sz="800" b="1">
                <a:solidFill>
                  <a:srgbClr val="1F2A3D"/>
                </a:solidFill>
                <a:latin typeface="Microsoft YaHei"/>
              </a:rPr>
              <a:t> 轮 / session</a:t>
            </a:r>
            <a:r>
              <a:rPr sz="900" b="0">
                <a:solidFill>
                  <a:srgbClr val="5C6B84"/>
                </a:solidFill>
                <a:latin typeface="Microsoft YaHei"/>
              </a:rPr>
              <a:t>    ·    </a:t>
            </a:r>
            <a:r>
              <a:rPr sz="1200" b="1">
                <a:solidFill>
                  <a:srgbClr val="2563EB"/>
                </a:solidFill>
                <a:latin typeface="Consolas"/>
              </a:rPr>
              <a:t>2.52</a:t>
            </a:r>
            <a:r>
              <a:rPr sz="800" b="1">
                <a:solidFill>
                  <a:srgbClr val="1F2A3D"/>
                </a:solidFill>
                <a:latin typeface="Microsoft YaHei"/>
              </a:rPr>
              <a:t> 轮 / 日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(用户 × 日)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2" y="5843016"/>
            <a:ext cx="3236976" cy="4572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5000"/>
              </a:lnSpc>
            </a:pPr>
            <a:r>
              <a:rPr sz="630" b="0">
                <a:solidFill>
                  <a:srgbClr val="5C6B84"/>
                </a:solidFill>
                <a:latin typeface="Microsoft YaHei"/>
              </a:rPr>
              <a:t>条长按平方根缩放(1 轮占 82.6%,线性画会压扁其余),读数看右侧数字;P3 计算第 10 轮起按上下文裁剪计、10 轮+ 按 12 轮。色系与 P3 分桶一致:蓝 1–5 轮 · 紫 6–9 轮 · 深紫 10 轮+。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419088"/>
            <a:ext cx="923544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口径:Tools / System Prompt·固定 / 会话级 / 动态 / query / answer 取现网实测(token_breakdown.csv、prompt段内容变化对照);T 三类与 tool call 为工作值,两边同长。会话内缓存不被逐出、无裁剪;命中按块上报的粒度误差(DS 4K)不计。本页落档 16(优化后)/ 17(优化前)。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6419088"/>
            <a:ext cx="228600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KV Cache 方案(汇报版)· PPT v2 · P1 数据基线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5966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21440" cy="38404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C6B84"/>
                </a:solidFill>
                <a:latin typeface="Microsoft YaHei"/>
              </a:rPr>
              <a:t>02  </a:t>
            </a:r>
            <a:r>
              <a:rPr sz="1600" b="1">
                <a:solidFill>
                  <a:srgbClr val="1F2A3D"/>
                </a:solidFill>
                <a:latin typeface="Microsoft YaHei"/>
              </a:rPr>
              <a:t>上下文组成对比:</a:t>
            </a:r>
            <a:r>
              <a:rPr sz="1600" b="1">
                <a:solidFill>
                  <a:srgbClr val="2563EB"/>
                </a:solidFill>
                <a:latin typeface="Microsoft YaHei"/>
              </a:rPr>
              <a:t>当前 vs 目标</a:t>
            </a:r>
            <a:r>
              <a:rPr sz="1600" b="1">
                <a:solidFill>
                  <a:srgbClr val="1F2A3D"/>
                </a:solidFill>
                <a:latin typeface="Microsoft YaHei"/>
              </a:rPr>
              <a:t>——Tools 移到最前成为产品级,动态下沉 U 随轮追加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3774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C6B84"/>
                </a:solidFill>
                <a:latin typeface="Microsoft YaHei"/>
              </a:rPr>
              <a:t>数字全部来自 P1;会话级只在会话首调算一次,其后只算当轮新增;段宽为示意、不按比例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22960"/>
            <a:ext cx="11548872" cy="13716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结构对照:按“变化频率”分四级</a:t>
            </a:r>
            <a:r>
              <a:rPr sz="750" b="0">
                <a:solidFill>
                  <a:srgbClr val="5C6B84"/>
                </a:solidFill>
                <a:latin typeface="Microsoft YaHei"/>
              </a:rPr>
              <a:t>  物理序:当前 System Prompt → Tools → UAT;目标 Tools → System Prompt → UAT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932688"/>
            <a:ext cx="128016" cy="91440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35824" y="877824"/>
            <a:ext cx="155448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产品级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47888" y="932688"/>
            <a:ext cx="128016" cy="914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877824"/>
            <a:ext cx="155448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会话级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932688"/>
            <a:ext cx="128016" cy="9144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877824"/>
            <a:ext cx="155448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query 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7776" y="932688"/>
            <a:ext cx="128016" cy="9144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877824"/>
            <a:ext cx="155448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loop 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69296" y="932688"/>
            <a:ext cx="128016" cy="9144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877824"/>
            <a:ext cx="155448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动态 · 每 Q 原位重写(病灶)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188720"/>
            <a:ext cx="640080" cy="45720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2A3D"/>
                </a:solidFill>
                <a:latin typeface="Microsoft YaHei"/>
              </a:rPr>
              <a:t>当前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P1 左表 · 1–9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1188720"/>
            <a:ext cx="3670220" cy="246888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① System Prompt·固定 28.9K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1435608"/>
            <a:ext cx="367022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14 段 · 产品级 · 命中(断点实测停在这里)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94932" y="1188720"/>
            <a:ext cx="1513256" cy="24688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② System Prompt·动态⚡ 3.5K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4932" y="1435608"/>
            <a:ext cx="1513256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skills / memory · 每 Q 原位重写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5620" y="1188720"/>
            <a:ext cx="941000" cy="24688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③ 会话级 1.5K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5620" y="1435608"/>
            <a:ext cx="94100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user.md + device · 被连带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04052" y="1188720"/>
            <a:ext cx="985020" cy="246888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④ Tools 5.9K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4052" y="1435608"/>
            <a:ext cx="98502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12 个工具 · 被连带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6504" y="1188720"/>
            <a:ext cx="1117079" cy="24688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⑤ 历史 10 轮 4K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6504" y="1435608"/>
            <a:ext cx="1117079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完整 U/A/T · 被连带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1015" y="1188720"/>
            <a:ext cx="2261590" cy="246888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⑥–⑨ 本会话 U/A/T(随轮增长)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1015" y="1435608"/>
            <a:ext cx="226159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U 仅 query · 每 Q 首调被连带重算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1645920"/>
            <a:ext cx="640080" cy="45720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2A3D"/>
                </a:solidFill>
                <a:latin typeface="Microsoft YaHei"/>
              </a:rPr>
              <a:t>目标</a:t>
            </a:r>
          </a:p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P1 右表 · 1–9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1645920"/>
            <a:ext cx="985020" cy="246888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① Tools 5.9K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1892808"/>
            <a:ext cx="98502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全量 12 个预置 · 全网命中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9732" y="1645920"/>
            <a:ext cx="3670220" cy="246888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② System Prompt·固定 28.9K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9732" y="1892808"/>
            <a:ext cx="367022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14 段不变、不塞 skill · 命中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7384" y="1645920"/>
            <a:ext cx="941000" cy="24688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③ 会话级 1.5K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7384" y="1892808"/>
            <a:ext cx="94100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会话内冻结 · 首调后命中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75816" y="1645920"/>
            <a:ext cx="1117079" cy="24688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④ 历史 10 轮 4K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75816" y="1892808"/>
            <a:ext cx="1117079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完整 U/A/T · 首调后命中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20327" y="1645920"/>
            <a:ext cx="1513256" cy="2468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DC2626"/>
                </a:solidFill>
                <a:latin typeface="Microsoft YaHei"/>
              </a:rPr>
              <a:t>⑤ U·动态 3.5K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0327" y="1892808"/>
            <a:ext cx="1513256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↑动态⚡ 下沉 · 随 U 追加、不回写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61015" y="1645920"/>
            <a:ext cx="2261590" cy="246888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none"/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⑥–⑨ 本会话 U/A/T(随轮增长)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1015" y="1892808"/>
            <a:ext cx="2261590" cy="182880"/>
          </a:xfrm>
          <a:prstGeom prst="rect">
            <a:avLst/>
          </a:prstGeom>
          <a:noFill/>
        </p:spPr>
        <p:txBody>
          <a:bodyPr wrap="none" anchor="t" lIns="27432" rIns="27432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纯追加,前缀永不改写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1984248"/>
            <a:ext cx="11338560" cy="20116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>
                <a:solidFill>
                  <a:srgbClr val="5C6B84"/>
                </a:solidFill>
                <a:latin typeface="Microsoft YaHei"/>
              </a:rPr>
              <a:t>目标行怎么来的 · 三步改造: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前缀区只放会话创建时已确定的内容——① 动态从 System Prompt 下沉到当轮 U 前半、随 U 追加(已上线);② 全量 12 个工具预置并移到最前(需 chat template);③ 动态只追加、不回写 System Prompt。不新增预置段。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2258568"/>
            <a:ext cx="11548872" cy="2743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304288"/>
            <a:ext cx="1136599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F2A3D"/>
                </a:solidFill>
                <a:latin typeface="Microsoft YaHei"/>
              </a:rPr>
              <a:t>同一会话逐次调用展开:行 = 一次模型调用,列 = 上下文位置,格色 = 缓存命运</a:t>
            </a:r>
            <a:r>
              <a:rPr sz="650" b="0">
                <a:solidFill>
                  <a:srgbClr val="5C6B84"/>
                </a:solidFill>
                <a:latin typeface="Microsoft YaHei"/>
              </a:rPr>
              <a:t>  Q1 问答 · Q2 任务 · Q3 / Q4 闲聊,共 5 次调用;检索 / skill 以伪造 A/T 随 U 进入、不占调用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2368296"/>
            <a:ext cx="128016" cy="91440"/>
          </a:xfrm>
          <a:prstGeom prst="roundRect">
            <a:avLst>
              <a:gd name="adj" fmla="val 20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41664" y="2313432"/>
            <a:ext cx="91440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已缓存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2368296"/>
            <a:ext cx="128016" cy="91440"/>
          </a:xfrm>
          <a:prstGeom prst="roundRect">
            <a:avLst>
              <a:gd name="adj" fmla="val 20000"/>
            </a:avLst>
          </a:prstGeom>
          <a:solidFill>
            <a:srgbClr val="E0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2313432"/>
            <a:ext cx="91440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原位重写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2640" y="2368296"/>
            <a:ext cx="128016" cy="91440"/>
          </a:xfrm>
          <a:prstGeom prst="roundRect">
            <a:avLst>
              <a:gd name="adj" fmla="val 20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38944" y="2313432"/>
            <a:ext cx="91440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被连带·白算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05872" y="2368296"/>
            <a:ext cx="128016" cy="91440"/>
          </a:xfrm>
          <a:prstGeom prst="roundRect">
            <a:avLst>
              <a:gd name="adj" fmla="val 20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52176" y="2313432"/>
            <a:ext cx="91440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新增·必算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119104" y="2368296"/>
            <a:ext cx="128016" cy="91440"/>
          </a:xfrm>
          <a:prstGeom prst="roundRect">
            <a:avLst>
              <a:gd name="adj" fmla="val 20000"/>
            </a:avLst>
          </a:prstGeom>
          <a:solidFill>
            <a:srgbClr val="9DB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65408" y="2313432"/>
            <a:ext cx="91440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C6B84"/>
                </a:solidFill>
                <a:latin typeface="Microsoft YaHei"/>
              </a:rPr>
              <a:t>会话首调载入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2624328"/>
            <a:ext cx="80467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F2A3D"/>
                </a:solidFill>
                <a:latin typeface="Microsoft YaHei"/>
              </a:rPr>
              <a:t>当前</a:t>
            </a:r>
          </a:p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5 次加权命中 58%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4440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① 固定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28.9K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97736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② 动态⚡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DC2626"/>
                </a:solidFill>
                <a:latin typeface="Consolas"/>
              </a:rPr>
              <a:t>3.5K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61032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③ 会话级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1.5K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24328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④ Tools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5.9K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87624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⑤ 历史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4K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50920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U1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14216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A₁T₁ 检索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77512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40808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U2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04104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A₂T₂ skill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67400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A₂′T₂′ 工具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30696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93992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U3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57288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20584" y="2624328"/>
            <a:ext cx="463296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U4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2624328"/>
            <a:ext cx="320040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>
                <a:solidFill>
                  <a:srgbClr val="5C6B84"/>
                </a:solidFill>
                <a:latin typeface="Microsoft YaHei"/>
              </a:rPr>
              <a:t>本次调用账目:白算 + 必算 = 实算(K)· 命中率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2907792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Q1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会话首调 · 问答(含检索)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245412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708708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172004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9DB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2635300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098596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9DB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561892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025188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488484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951780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415076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878372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341668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804964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268260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731556" y="2935224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75320" y="2907792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D97706"/>
                </a:solidFill>
                <a:latin typeface="Microsoft YaHei"/>
              </a:rPr>
              <a:t>白算 5.9</a:t>
            </a:r>
            <a:r>
              <a:rPr sz="580" b="0">
                <a:solidFill>
                  <a:srgbClr val="5C6B84"/>
                </a:solidFill>
                <a:latin typeface="Microsoft YaHei"/>
              </a:rPr>
              <a:t>(Tools)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首调载入 5.5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13.8</a:t>
            </a:r>
            <a:r>
              <a:rPr sz="630" b="1">
                <a:solidFill>
                  <a:srgbClr val="DC2626"/>
                </a:solidFill>
                <a:latin typeface="Consolas"/>
              </a:rPr>
              <a:t>  = 25.2K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53%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1480" y="3081528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Q2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任务(含skill)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45412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708708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E0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172004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2635300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098596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3561892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025188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488484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951780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415076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878372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6341668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804964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268260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731556" y="3108960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75320" y="3081528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D97706"/>
                </a:solidFill>
                <a:latin typeface="Microsoft YaHei"/>
              </a:rPr>
              <a:t>白算 22</a:t>
            </a:r>
            <a:r>
              <a:rPr sz="580" b="0">
                <a:solidFill>
                  <a:srgbClr val="5C6B84"/>
                </a:solidFill>
                <a:latin typeface="Microsoft YaHei"/>
              </a:rPr>
              <a:t>(11.4 + 本会话史 10.5)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9.1</a:t>
            </a:r>
            <a:r>
              <a:rPr sz="630" b="1">
                <a:solidFill>
                  <a:srgbClr val="DC2626"/>
                </a:solidFill>
                <a:latin typeface="Consolas"/>
              </a:rPr>
              <a:t>  = 31K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48%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1480" y="3255264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Q2 调②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loop · 工具调用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245412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708708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2172004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2635300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3098596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3561892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025188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4488484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4951780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5415076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5878372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6341668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804964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7268260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7731556" y="3282696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275320" y="3255264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2563EB"/>
                </a:solidFill>
                <a:latin typeface="Microsoft YaHei"/>
              </a:rPr>
              <a:t>必算 2.7</a:t>
            </a:r>
            <a:r>
              <a:rPr sz="630" b="1">
                <a:solidFill>
                  <a:srgbClr val="059669"/>
                </a:solidFill>
                <a:latin typeface="Consolas"/>
              </a:rPr>
              <a:t>  = 2.7K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96%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11480" y="3429000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Q3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闲聊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245412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708708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E0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2172004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635300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3098596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3561892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4025188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4488484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4951780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5415076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5878372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6341668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6804964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268260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7731556" y="3456432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275320" y="3429000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D97706"/>
                </a:solidFill>
                <a:latin typeface="Microsoft YaHei"/>
              </a:rPr>
              <a:t>白算 30.2</a:t>
            </a:r>
            <a:r>
              <a:rPr sz="580" b="0">
                <a:solidFill>
                  <a:srgbClr val="5C6B84"/>
                </a:solidFill>
                <a:latin typeface="Microsoft YaHei"/>
              </a:rPr>
              <a:t>(11.4 + 本会话史 18.8)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3.9</a:t>
            </a:r>
            <a:r>
              <a:rPr sz="630" b="1">
                <a:solidFill>
                  <a:srgbClr val="DC2626"/>
                </a:solidFill>
                <a:latin typeface="Consolas"/>
              </a:rPr>
              <a:t>  = 34.1K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46%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11480" y="3602736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Q4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闲聊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245412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708708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E0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2172004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2635300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3098596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3561892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4025188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4488484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4951780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5415076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5878372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6341668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804964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7268260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F5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7731556" y="3630168"/>
            <a:ext cx="441351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275320" y="3602736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D97706"/>
                </a:solidFill>
                <a:latin typeface="Microsoft YaHei"/>
              </a:rPr>
              <a:t>白算 30.6</a:t>
            </a:r>
            <a:r>
              <a:rPr sz="580" b="0">
                <a:solidFill>
                  <a:srgbClr val="5C6B84"/>
                </a:solidFill>
                <a:latin typeface="Microsoft YaHei"/>
              </a:rPr>
              <a:t>(11.4 + 本会话史 19.2)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3.9</a:t>
            </a:r>
            <a:r>
              <a:rPr sz="630" b="1">
                <a:solidFill>
                  <a:srgbClr val="DC2626"/>
                </a:solidFill>
                <a:latin typeface="Consolas"/>
              </a:rPr>
              <a:t>  = 34.4K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46%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3550920" y="2898648"/>
            <a:ext cx="0" cy="877824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411480" y="3813048"/>
            <a:ext cx="804672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F2A3D"/>
                </a:solidFill>
                <a:latin typeface="Microsoft YaHei"/>
              </a:rPr>
              <a:t>目标</a:t>
            </a:r>
          </a:p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5 次加权命中 88%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34440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① Tools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5.9K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730828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② 固定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28.9K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227217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③ 会话级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1.5K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723605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④ 历史</a:t>
            </a:r>
          </a:p>
          <a:p>
            <a:pPr algn="ctr">
              <a:lnSpc>
                <a:spcPct val="100000"/>
              </a:lnSpc>
            </a:pPr>
            <a:r>
              <a:rPr sz="560" b="0">
                <a:solidFill>
                  <a:srgbClr val="5C6B84"/>
                </a:solidFill>
                <a:latin typeface="Consolas"/>
              </a:rPr>
              <a:t>4K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219994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Δ+U1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716382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A₁T₁ 检索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212771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ans₁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709160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Δ+U2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205548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A₂T₂ skill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701937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A₂′T₂′ 工具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198325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ans₂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694714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Δ+U3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191102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ans₃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687491" y="3813048"/>
            <a:ext cx="496388" cy="274320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1">
                <a:solidFill>
                  <a:srgbClr val="1F2A3D"/>
                </a:solidFill>
                <a:latin typeface="Microsoft YaHei"/>
              </a:rPr>
              <a:t>Δ+U4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75320" y="3813048"/>
            <a:ext cx="3200400" cy="274320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>
                <a:solidFill>
                  <a:srgbClr val="5C6B84"/>
                </a:solidFill>
                <a:latin typeface="Microsoft YaHei"/>
              </a:rPr>
              <a:t>本次调用账目:白算 + 必算 = 实算(K)· 命中率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11480" y="4096512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Q1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会话首调 · 问答(含检索)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245412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1741800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2238189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9DB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2734577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9DB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3230966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3727354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4223743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4720132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5216520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5712909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6209297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6705686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7202074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7698463" y="4123944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275320" y="4096512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059669"/>
                </a:solidFill>
                <a:latin typeface="Microsoft YaHei"/>
              </a:rPr>
              <a:t>白算 0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首调载入 5.5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13.8</a:t>
            </a:r>
            <a:r>
              <a:rPr sz="630" b="1">
                <a:solidFill>
                  <a:srgbClr val="059669"/>
                </a:solidFill>
                <a:latin typeface="Consolas"/>
              </a:rPr>
              <a:t>  = 19.3K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64%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11480" y="4270248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Q2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任务(含skill)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245412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1741800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2238189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2734577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3230966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3727354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4223743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4720132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5216520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5712909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6209297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6705686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7202074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7698463" y="4297680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275320" y="4270248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059669"/>
                </a:solidFill>
                <a:latin typeface="Microsoft YaHei"/>
              </a:rPr>
              <a:t>白算 0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9.1</a:t>
            </a:r>
            <a:r>
              <a:rPr sz="630" b="1">
                <a:solidFill>
                  <a:srgbClr val="059669"/>
                </a:solidFill>
                <a:latin typeface="Consolas"/>
              </a:rPr>
              <a:t>  = 9.1K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86%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11480" y="4443984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Q2 调②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loop · 工具调用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245412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741800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2238189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2734577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3230966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3727354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4223743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4720132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5216520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5712909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6209297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6705686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7202074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7698463" y="4471416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275320" y="4443984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2563EB"/>
                </a:solidFill>
                <a:latin typeface="Microsoft YaHei"/>
              </a:rPr>
              <a:t>必算 2.7</a:t>
            </a:r>
            <a:r>
              <a:rPr sz="630" b="1">
                <a:solidFill>
                  <a:srgbClr val="059669"/>
                </a:solidFill>
                <a:latin typeface="Consolas"/>
              </a:rPr>
              <a:t>  = 2.7K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96%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11480" y="4617720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Q3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闲聊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1245412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1741800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2238189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7" name="Rounded Rectangle 226"/>
          <p:cNvSpPr/>
          <p:nvPr/>
        </p:nvSpPr>
        <p:spPr>
          <a:xfrm>
            <a:off x="2734577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3230966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3727354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4223743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4720132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2" name="Rounded Rectangle 231"/>
          <p:cNvSpPr/>
          <p:nvPr/>
        </p:nvSpPr>
        <p:spPr>
          <a:xfrm>
            <a:off x="5216520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5712909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6209297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6705686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7202074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7698463" y="4645152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8275320" y="4617720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059669"/>
                </a:solidFill>
                <a:latin typeface="Microsoft YaHei"/>
              </a:rPr>
              <a:t>白算 0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3.9</a:t>
            </a:r>
            <a:r>
              <a:rPr sz="630" b="1">
                <a:solidFill>
                  <a:srgbClr val="059669"/>
                </a:solidFill>
                <a:latin typeface="Consolas"/>
              </a:rPr>
              <a:t>  = 3.9K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94%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11480" y="4791456"/>
            <a:ext cx="804672" cy="173736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1F2A3D"/>
                </a:solidFill>
                <a:latin typeface="Microsoft YaHei"/>
              </a:rPr>
              <a:t>Q4 调①</a:t>
            </a:r>
          </a:p>
          <a:p>
            <a:pPr algn="l">
              <a:lnSpc>
                <a:spcPct val="100000"/>
              </a:lnSpc>
            </a:pPr>
            <a:r>
              <a:rPr sz="520" b="0">
                <a:solidFill>
                  <a:srgbClr val="5C6B84"/>
                </a:solidFill>
                <a:latin typeface="Microsoft YaHei"/>
              </a:rPr>
              <a:t>首调 · 闲聊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245412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1741800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2238189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3" name="Rounded Rectangle 242"/>
          <p:cNvSpPr/>
          <p:nvPr/>
        </p:nvSpPr>
        <p:spPr>
          <a:xfrm>
            <a:off x="2734577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4" name="Rounded Rectangle 243"/>
          <p:cNvSpPr/>
          <p:nvPr/>
        </p:nvSpPr>
        <p:spPr>
          <a:xfrm>
            <a:off x="3230966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3727354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4223743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7" name="Rounded Rectangle 246"/>
          <p:cNvSpPr/>
          <p:nvPr/>
        </p:nvSpPr>
        <p:spPr>
          <a:xfrm>
            <a:off x="4720132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5216520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5712909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0" name="Rounded Rectangle 249"/>
          <p:cNvSpPr/>
          <p:nvPr/>
        </p:nvSpPr>
        <p:spPr>
          <a:xfrm>
            <a:off x="6209297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6705686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7202074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4EB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7698463" y="4818888"/>
            <a:ext cx="474443" cy="118872"/>
          </a:xfrm>
          <a:prstGeom prst="roundRect">
            <a:avLst>
              <a:gd name="adj" fmla="val 15000"/>
            </a:avLst>
          </a:prstGeom>
          <a:solidFill>
            <a:srgbClr val="3F7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275320" y="4791456"/>
            <a:ext cx="3200400" cy="173736"/>
          </a:xfrm>
          <a:prstGeom prst="rect">
            <a:avLst/>
          </a:prstGeom>
          <a:noFill/>
        </p:spPr>
        <p:txBody>
          <a:bodyPr wrap="non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059669"/>
                </a:solidFill>
                <a:latin typeface="Microsoft YaHei"/>
              </a:rPr>
              <a:t>白算 0</a:t>
            </a:r>
            <a:r>
              <a:rPr sz="630" b="0">
                <a:solidFill>
                  <a:srgbClr val="1F2A3D"/>
                </a:solidFill>
                <a:latin typeface="Microsoft YaHei"/>
              </a:rPr>
              <a:t> + </a:t>
            </a:r>
            <a:r>
              <a:rPr sz="630" b="1">
                <a:solidFill>
                  <a:srgbClr val="2563EB"/>
                </a:solidFill>
                <a:latin typeface="Microsoft YaHei"/>
              </a:rPr>
              <a:t>必算 3.9</a:t>
            </a:r>
            <a:r>
              <a:rPr sz="630" b="1">
                <a:solidFill>
                  <a:srgbClr val="059669"/>
                </a:solidFill>
                <a:latin typeface="Consolas"/>
              </a:rPr>
              <a:t>  = 3.9K</a:t>
            </a:r>
            <a:r>
              <a:rPr sz="600" b="1">
                <a:solidFill>
                  <a:srgbClr val="1F2A3D"/>
                </a:solidFill>
                <a:latin typeface="Microsoft YaHei"/>
              </a:rPr>
              <a:t>   命中 95%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3219994" y="4087368"/>
            <a:ext cx="0" cy="877824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Rounded Rectangle 255"/>
          <p:cNvSpPr/>
          <p:nvPr/>
        </p:nvSpPr>
        <p:spPr>
          <a:xfrm>
            <a:off x="320040" y="5065776"/>
            <a:ext cx="377647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393192" y="5084064"/>
            <a:ext cx="3630168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2A3D"/>
                </a:solidFill>
                <a:latin typeface="Consolas"/>
              </a:rPr>
              <a:t>① 输入 = </a:t>
            </a:r>
            <a:r>
              <a:rPr sz="800" b="1">
                <a:solidFill>
                  <a:srgbClr val="059669"/>
                </a:solidFill>
                <a:latin typeface="Consolas"/>
              </a:rPr>
              <a:t>已缓存</a:t>
            </a:r>
            <a:r>
              <a:rPr sz="800" b="1">
                <a:solidFill>
                  <a:srgbClr val="1F2A3D"/>
                </a:solidFill>
                <a:latin typeface="Consolas"/>
              </a:rPr>
              <a:t> + </a:t>
            </a:r>
            <a:r>
              <a:rPr sz="800" b="1">
                <a:solidFill>
                  <a:srgbClr val="DC2626"/>
                </a:solidFill>
                <a:latin typeface="Consolas"/>
              </a:rPr>
              <a:t>白算</a:t>
            </a:r>
            <a:r>
              <a:rPr sz="800" b="1">
                <a:solidFill>
                  <a:srgbClr val="1F2A3D"/>
                </a:solidFill>
                <a:latin typeface="Consolas"/>
              </a:rPr>
              <a:t> + </a:t>
            </a:r>
            <a:r>
              <a:rPr sz="800" b="1">
                <a:solidFill>
                  <a:srgbClr val="2563EB"/>
                </a:solidFill>
                <a:latin typeface="Consolas"/>
              </a:rPr>
              <a:t>必算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93192" y="5285232"/>
            <a:ext cx="3630168" cy="219456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已缓存 = 前缀逐 token 一致的深度;白算 = 本该命中却因前缀改写而重算;必算 = 本次必要新增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4206240" y="5065776"/>
            <a:ext cx="377647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4279392" y="5084064"/>
            <a:ext cx="3630168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2A3D"/>
                </a:solidFill>
                <a:latin typeface="Consolas"/>
              </a:rPr>
              <a:t>② </a:t>
            </a:r>
            <a:r>
              <a:rPr sz="800" b="1">
                <a:solidFill>
                  <a:srgbClr val="D97706"/>
                </a:solidFill>
                <a:latin typeface="Consolas"/>
              </a:rPr>
              <a:t>实算</a:t>
            </a:r>
            <a:r>
              <a:rPr sz="800" b="1">
                <a:solidFill>
                  <a:srgbClr val="1F2A3D"/>
                </a:solidFill>
                <a:latin typeface="Consolas"/>
              </a:rPr>
              <a:t>(内部口径“硬算”)= </a:t>
            </a:r>
            <a:r>
              <a:rPr sz="800" b="1">
                <a:solidFill>
                  <a:srgbClr val="DC2626"/>
                </a:solidFill>
                <a:latin typeface="Consolas"/>
              </a:rPr>
              <a:t>白算</a:t>
            </a:r>
            <a:r>
              <a:rPr sz="800" b="1">
                <a:solidFill>
                  <a:srgbClr val="1F2A3D"/>
                </a:solidFill>
                <a:latin typeface="Consolas"/>
              </a:rPr>
              <a:t> + </a:t>
            </a:r>
            <a:r>
              <a:rPr sz="800" b="1">
                <a:solidFill>
                  <a:srgbClr val="2563EB"/>
                </a:solidFill>
                <a:latin typeface="Consolas"/>
              </a:rPr>
              <a:t>必算</a:t>
            </a:r>
            <a:r>
              <a:rPr sz="800" b="1">
                <a:solidFill>
                  <a:srgbClr val="1F2A3D"/>
                </a:solidFill>
                <a:latin typeface="Consolas"/>
              </a:rPr>
              <a:t> = 输入 − 已缓存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279392" y="5285232"/>
            <a:ext cx="3630168" cy="219456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prefill 真正计算的量,引擎逐请求实报;账单与 TTFT 都跟它走,成本收益看它降多少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8092440" y="5065776"/>
            <a:ext cx="377647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8165592" y="5084064"/>
            <a:ext cx="3630168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2A3D"/>
                </a:solidFill>
                <a:latin typeface="Consolas"/>
              </a:rPr>
              <a:t>③ cache 命中率 = </a:t>
            </a:r>
            <a:r>
              <a:rPr sz="800" b="1">
                <a:solidFill>
                  <a:srgbClr val="059669"/>
                </a:solidFill>
                <a:latin typeface="Consolas"/>
              </a:rPr>
              <a:t>已缓存</a:t>
            </a:r>
            <a:r>
              <a:rPr sz="800" b="1">
                <a:solidFill>
                  <a:srgbClr val="1F2A3D"/>
                </a:solidFill>
                <a:latin typeface="Consolas"/>
              </a:rPr>
              <a:t> ÷ 输入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165592" y="5285232"/>
            <a:ext cx="3630168" cy="219456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0">
                <a:solidFill>
                  <a:srgbClr val="5C6B84"/>
                </a:solidFill>
                <a:latin typeface="Microsoft YaHei"/>
              </a:rPr>
              <a:t>业界通用健康度;分母含必算,必算越多命中率越低,不如实算直观,按业界口径一并报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320040" y="5577840"/>
            <a:ext cx="2807208" cy="79552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93192" y="5596128"/>
            <a:ext cx="2660904" cy="182880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目标 ① </a:t>
            </a:r>
            <a:r>
              <a:rPr sz="750" b="1">
                <a:solidFill>
                  <a:srgbClr val="DC2626"/>
                </a:solidFill>
                <a:latin typeface="Microsoft YaHei"/>
              </a:rPr>
              <a:t>白算 → 0</a:t>
            </a:r>
            <a:r>
              <a:rPr sz="540" b="0">
                <a:solidFill>
                  <a:srgbClr val="5C6B84"/>
                </a:solidFill>
                <a:latin typeface="Microsoft YaHei"/>
              </a:rPr>
              <a:t>  验收线 · 排布改造唯一可控项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93192" y="5760720"/>
            <a:ext cx="2660904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C2626"/>
                </a:solidFill>
                <a:latin typeface="Consolas"/>
              </a:rPr>
              <a:t>88.6K</a:t>
            </a:r>
            <a:r>
              <a:rPr sz="800" b="1">
                <a:solidFill>
                  <a:srgbClr val="5C6B84"/>
                </a:solidFill>
                <a:latin typeface="Consolas"/>
              </a:rPr>
              <a:t> → </a:t>
            </a:r>
            <a:r>
              <a:rPr sz="1050" b="1">
                <a:solidFill>
                  <a:srgbClr val="059669"/>
                </a:solidFill>
                <a:latin typeface="Consolas"/>
              </a:rPr>
              <a:t>0</a:t>
            </a:r>
            <a:r>
              <a:rPr sz="600" b="1">
                <a:solidFill>
                  <a:srgbClr val="059669"/>
                </a:solidFill>
                <a:latin typeface="Consolas"/>
              </a:rPr>
              <a:t>  上表 5 次调用合计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93192" y="5961888"/>
            <a:ext cx="2660904" cy="402336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Tools / 会话级 / 历史 / 本会话已写被前缀改写连带;实测 Q≥2 首调 miss 21–34K、白算占 90–99%。目标态 loop 白算 &gt; 1 块即报警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3236976" y="5577840"/>
            <a:ext cx="2807208" cy="79552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3310128" y="5596128"/>
            <a:ext cx="2660904" cy="182880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目标 ② </a:t>
            </a:r>
            <a:r>
              <a:rPr sz="750" b="1">
                <a:solidFill>
                  <a:srgbClr val="2563EB"/>
                </a:solidFill>
                <a:latin typeface="Microsoft YaHei"/>
              </a:rPr>
              <a:t>必算尽可能小</a:t>
            </a:r>
            <a:r>
              <a:rPr sz="540" b="0">
                <a:solidFill>
                  <a:srgbClr val="5C6B84"/>
                </a:solidFill>
                <a:latin typeface="Microsoft YaHei"/>
              </a:rPr>
              <a:t>  整轮必要新增 · 本次不记成绩 · 下一步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3310128" y="5760720"/>
            <a:ext cx="2660904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Consolas"/>
              </a:rPr>
              <a:t>38.8K</a:t>
            </a:r>
            <a:r>
              <a:rPr sz="800" b="1">
                <a:solidFill>
                  <a:srgbClr val="5C6B84"/>
                </a:solidFill>
                <a:latin typeface="Consolas"/>
              </a:rPr>
              <a:t> = </a:t>
            </a:r>
            <a:r>
              <a:rPr sz="1050" b="1">
                <a:solidFill>
                  <a:srgbClr val="2563EB"/>
                </a:solidFill>
                <a:latin typeface="Consolas"/>
              </a:rPr>
              <a:t>38.8K</a:t>
            </a:r>
            <a:r>
              <a:rPr sz="600" b="1">
                <a:solidFill>
                  <a:srgbClr val="2563EB"/>
                </a:solidFill>
                <a:latin typeface="Consolas"/>
              </a:rPr>
              <a:t>  两边相同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3310128" y="5961888"/>
            <a:ext cx="2660904" cy="402336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首调必算 闲聊 3.9K / 任务 9.1K(含 skill)/ 问答 14.1K(含检索),决定 TTFT;整轮实算 10.6K 决定成本。下一步:available skills 升会话级、检索 / 工具结果精简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6153912" y="5577840"/>
            <a:ext cx="2807208" cy="79552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227064" y="5596128"/>
            <a:ext cx="2660904" cy="182880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成本看 </a:t>
            </a:r>
            <a:r>
              <a:rPr sz="750" b="1">
                <a:solidFill>
                  <a:srgbClr val="D97706"/>
                </a:solidFill>
                <a:latin typeface="Microsoft YaHei"/>
              </a:rPr>
              <a:t>实算</a:t>
            </a:r>
            <a:r>
              <a:rPr sz="750" b="1">
                <a:solidFill>
                  <a:srgbClr val="1F2A3D"/>
                </a:solidFill>
                <a:latin typeface="Microsoft YaHei"/>
              </a:rPr>
              <a:t> 降幅</a:t>
            </a:r>
            <a:r>
              <a:rPr sz="540" b="0">
                <a:solidFill>
                  <a:srgbClr val="5C6B84"/>
                </a:solidFill>
                <a:latin typeface="Microsoft YaHei"/>
              </a:rPr>
              <a:t>  本页示例 4 轮 session · 白算归零后实算 = 必算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227064" y="5760720"/>
            <a:ext cx="2660904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C2626"/>
                </a:solidFill>
                <a:latin typeface="Consolas"/>
              </a:rPr>
              <a:t>127K</a:t>
            </a:r>
            <a:r>
              <a:rPr sz="800" b="1">
                <a:solidFill>
                  <a:srgbClr val="5C6B84"/>
                </a:solidFill>
                <a:latin typeface="Consolas"/>
              </a:rPr>
              <a:t> → </a:t>
            </a:r>
            <a:r>
              <a:rPr sz="1050" b="1">
                <a:solidFill>
                  <a:srgbClr val="059669"/>
                </a:solidFill>
                <a:latin typeface="Consolas"/>
              </a:rPr>
              <a:t>39K</a:t>
            </a:r>
            <a:r>
              <a:rPr sz="700" b="1">
                <a:solidFill>
                  <a:srgbClr val="059669"/>
                </a:solidFill>
                <a:latin typeface="Consolas"/>
              </a:rPr>
              <a:t>  −70%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227064" y="5961888"/>
            <a:ext cx="2660904" cy="402336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省额 88.6K = 白算;Q≥2 首调 31K–34.4K → 3.9K–9.1K,与轮数脱钩。业务加权 4 轮 session −63%、全业务(均 1.35 轮)−45%,见 P3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9070848" y="5577840"/>
            <a:ext cx="2807208" cy="79552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9144000" y="5596128"/>
            <a:ext cx="2660904" cy="182880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1F2A3D"/>
                </a:solidFill>
                <a:latin typeface="Microsoft YaHei"/>
              </a:rPr>
              <a:t>cache 命中率</a:t>
            </a:r>
            <a:r>
              <a:rPr sz="540" b="0">
                <a:solidFill>
                  <a:srgbClr val="5C6B84"/>
                </a:solidFill>
                <a:latin typeface="Microsoft YaHei"/>
              </a:rPr>
              <a:t>  已缓存 ÷ 输入 · 全业务加权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144000" y="5760720"/>
            <a:ext cx="2660904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C2626"/>
                </a:solidFill>
                <a:latin typeface="Consolas"/>
              </a:rPr>
              <a:t>62%</a:t>
            </a:r>
            <a:r>
              <a:rPr sz="800" b="1">
                <a:solidFill>
                  <a:srgbClr val="5C6B84"/>
                </a:solidFill>
                <a:latin typeface="Consolas"/>
              </a:rPr>
              <a:t> → </a:t>
            </a:r>
            <a:r>
              <a:rPr sz="1050" b="1">
                <a:solidFill>
                  <a:srgbClr val="059669"/>
                </a:solidFill>
                <a:latin typeface="Consolas"/>
              </a:rPr>
              <a:t>80%</a:t>
            </a:r>
            <a:r>
              <a:rPr sz="600" b="1">
                <a:solidFill>
                  <a:srgbClr val="059669"/>
                </a:solidFill>
                <a:latin typeface="Consolas"/>
              </a:rPr>
              <a:t>  业务 × session 分布加权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9144000" y="5961888"/>
            <a:ext cx="2660904" cy="402336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>
                <a:solidFill>
                  <a:srgbClr val="5C6B84"/>
                </a:solidFill>
                <a:latin typeface="Microsoft YaHei"/>
              </a:rPr>
              <a:t>当前断点恒在 System Prompt·固定末(实测约 60%,与推演相符)。目标受必算拖累——会话首调 5.5K、检索 10K、skill 5K 都在分母:6 轮 92%、12 轮 94%,1Q 只 75%,而 83% 的 session 只有 1 轮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20040" y="6419088"/>
            <a:ext cx="923544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数字全部来自 P1 基线,逐调用推演;当前侧与三条实测会话一致(断点恒在 System Prompt·固定末、Q 首调 miss 14–34K、loop 白算 ≤1 块)。目标侧输入比当前略长(动态留在历史里),是只追加的代价,已计入命中率分母。目标序 Tools → System Prompt 需 chat template 支持(见 06)。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9601200" y="6419088"/>
            <a:ext cx="228600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KV Cache 方案(汇报版)· PPT v2 · P2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5966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11521440" cy="38404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C6B84"/>
                </a:solidFill>
                <a:latin typeface="Microsoft YaHei"/>
              </a:rPr>
              <a:t>03  </a:t>
            </a:r>
            <a:r>
              <a:rPr sz="1350" b="1">
                <a:solidFill>
                  <a:srgbClr val="1F2A3D"/>
                </a:solidFill>
                <a:latin typeface="Microsoft YaHei"/>
              </a:rPr>
              <a:t>轮数 × 业务:</a:t>
            </a:r>
            <a:r>
              <a:rPr sz="1350" b="1">
                <a:solidFill>
                  <a:srgbClr val="2563EB"/>
                </a:solidFill>
                <a:latin typeface="Microsoft YaHei"/>
              </a:rPr>
              <a:t>当前每深一轮多烧 7.1K,目标 Q2 起钉在 10.6K</a:t>
            </a:r>
            <a:r>
              <a:rPr sz="1350" b="1">
                <a:solidFill>
                  <a:srgbClr val="1F2A3D"/>
                </a:solidFill>
                <a:latin typeface="Microsoft YaHei"/>
              </a:rPr>
              <a:t>——全量加权 token −45%(成本 −35%),cache 命中率 62% → 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3774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C6B84"/>
                </a:solidFill>
                <a:latin typeface="Microsoft YaHei"/>
              </a:rPr>
              <a:t>左 = 第 n 轮(单轮)· 右 = L 轮的 session 与全量;业务 47 / 28 / 25 加权,第 10 轮起上下文裁剪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22960"/>
            <a:ext cx="5715000" cy="4617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905256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13716" bIns="13716" wrap="square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563EB"/>
                </a:solidFill>
                <a:latin typeface="Microsoft YaHei"/>
              </a:rPr>
              <a:t>第 n 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859536"/>
            <a:ext cx="4434840" cy="274320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单轮视角</a:t>
            </a:r>
            <a:r>
              <a:rPr sz="700" b="0">
                <a:solidFill>
                  <a:srgbClr val="5C6B84"/>
                </a:solidFill>
                <a:latin typeface="Microsoft YaHei"/>
              </a:rPr>
              <a:t>  一轮 = 一个 Q,含该轮全部调用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square"/>
          <a:lstStyle/>
          <a:p>
            <a:pPr algn="l">
              <a:lnSpc>
                <a:spcPct val="110000"/>
              </a:lnSpc>
            </a:pPr>
            <a:r>
              <a:rPr sz="660" b="1">
                <a:solidFill>
                  <a:srgbClr val="1F2A3D"/>
                </a:solidFill>
                <a:latin typeface="Microsoft YaHei"/>
              </a:rPr>
              <a:t>目标每轮实算(Q≥2)= 首调必算 + 第二次调用:</a:t>
            </a:r>
            <a:r>
              <a:rPr sz="660" b="0">
                <a:solidFill>
                  <a:srgbClr val="5C6B84"/>
                </a:solidFill>
                <a:latin typeface="Microsoft YaHei"/>
              </a:rPr>
              <a:t>闲聊 </a:t>
            </a:r>
            <a:r>
              <a:rPr sz="660" b="1">
                <a:solidFill>
                  <a:srgbClr val="059669"/>
                </a:solidFill>
                <a:latin typeface="Microsoft YaHei"/>
              </a:rPr>
              <a:t>3.9K</a:t>
            </a:r>
            <a:r>
              <a:rPr sz="660" b="0">
                <a:solidFill>
                  <a:srgbClr val="5C6B84"/>
                </a:solidFill>
                <a:latin typeface="Microsoft YaHei"/>
              </a:rPr>
              <a:t>(动态 3.5K + query 0.1K + 上轮 answer 0.3K)| 任务 3.9K + skill 5.2K + 工具 2.7K = </a:t>
            </a:r>
            <a:r>
              <a:rPr sz="660" b="1">
                <a:solidFill>
                  <a:srgbClr val="059669"/>
                </a:solidFill>
                <a:latin typeface="Microsoft YaHei"/>
              </a:rPr>
              <a:t>11.8K</a:t>
            </a:r>
            <a:r>
              <a:rPr sz="660" b="0">
                <a:solidFill>
                  <a:srgbClr val="5C6B84"/>
                </a:solidFill>
                <a:latin typeface="Microsoft YaHei"/>
              </a:rPr>
              <a:t> | 问答 3.9K + 检索 10.2K = </a:t>
            </a:r>
            <a:r>
              <a:rPr sz="660" b="1">
                <a:solidFill>
                  <a:srgbClr val="059669"/>
                </a:solidFill>
                <a:latin typeface="Microsoft YaHei"/>
              </a:rPr>
              <a:t>14.1K</a:t>
            </a:r>
            <a:r>
              <a:rPr sz="660" b="0">
                <a:solidFill>
                  <a:srgbClr val="5C6B84"/>
                </a:solidFill>
                <a:latin typeface="Microsoft YaHei"/>
              </a:rPr>
              <a:t> → 按 47 / 28 / 25 加权 = </a:t>
            </a:r>
            <a:r>
              <a:rPr sz="900" b="1">
                <a:solidFill>
                  <a:srgbClr val="059669"/>
                </a:solidFill>
                <a:latin typeface="Consolas"/>
              </a:rPr>
              <a:t>10.6K</a:t>
            </a:r>
            <a:r>
              <a:rPr sz="660" b="0">
                <a:solidFill>
                  <a:srgbClr val="5C6B84"/>
                </a:solidFill>
                <a:latin typeface="Microsoft YaHei"/>
              </a:rPr>
              <a:t>,与轮数无关。</a:t>
            </a:r>
          </a:p>
          <a:p>
            <a:pPr algn="l">
              <a:lnSpc>
                <a:spcPct val="110000"/>
              </a:lnSpc>
            </a:pPr>
            <a:r>
              <a:rPr sz="660" b="1">
                <a:solidFill>
                  <a:srgbClr val="1F2A3D"/>
                </a:solidFill>
                <a:latin typeface="Microsoft YaHei"/>
              </a:rPr>
              <a:t>当前每轮 = 10.6K + 白算:</a:t>
            </a:r>
            <a:r>
              <a:rPr sz="660" b="0">
                <a:solidFill>
                  <a:srgbClr val="5C6B84"/>
                </a:solidFill>
                <a:latin typeface="Microsoft YaHei"/>
              </a:rPr>
              <a:t>固定项 </a:t>
            </a:r>
            <a:r>
              <a:rPr sz="660" b="1">
                <a:solidFill>
                  <a:srgbClr val="DC2626"/>
                </a:solidFill>
                <a:latin typeface="Microsoft YaHei"/>
              </a:rPr>
              <a:t>11.4K</a:t>
            </a:r>
            <a:r>
              <a:rPr sz="660" b="0">
                <a:solidFill>
                  <a:srgbClr val="5C6B84"/>
                </a:solidFill>
                <a:latin typeface="Microsoft YaHei"/>
              </a:rPr>
              <a:t>(Tools + 会话级 + 历史)+ 本会话史 </a:t>
            </a:r>
            <a:r>
              <a:rPr sz="660" b="1">
                <a:solidFill>
                  <a:srgbClr val="DC2626"/>
                </a:solidFill>
                <a:latin typeface="Microsoft YaHei"/>
              </a:rPr>
              <a:t>7.1K</a:t>
            </a:r>
            <a:r>
              <a:rPr sz="660" b="0">
                <a:solidFill>
                  <a:srgbClr val="5C6B84"/>
                </a:solidFill>
                <a:latin typeface="Microsoft YaHei"/>
              </a:rPr>
              <a:t> × (n−1),每深一轮多烧 7.1K;第 10 轮起裁剪封顶。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792224"/>
          <a:ext cx="553212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3822192"/>
            <a:ext cx="553212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F2A3D"/>
                </a:solidFill>
                <a:latin typeface="Microsoft YaHei"/>
              </a:rPr>
              <a:t>逐轮账</a:t>
            </a:r>
            <a:r>
              <a:rPr sz="600" b="0">
                <a:solidFill>
                  <a:srgbClr val="5C6B84"/>
                </a:solidFill>
                <a:latin typeface="Microsoft YaHei"/>
              </a:rPr>
              <a:t>  TTFT = 首调实算 × ≈46 ms/K(参考实测 14K ≈ 640 ms);预热后统一 170 ms;问答 / 任务另 +检索 / skill 两边相同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4041648"/>
          <a:ext cx="5532116" cy="14813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98071"/>
                <a:gridCol w="646611"/>
                <a:gridCol w="646611"/>
                <a:gridCol w="610688"/>
                <a:gridCol w="1077685"/>
                <a:gridCol w="1077685"/>
                <a:gridCol w="574765"/>
              </a:tblGrid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第 n 轮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当前实算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目标实算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节省率 η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该轮命中率 当前 → 目标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首调 TTFT 当前 → 目标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预热后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第 1 轮</a:t>
                      </a:r>
                      <a:r>
                        <a:rPr sz="580" b="0">
                          <a:solidFill>
                            <a:srgbClr val="5C6B84"/>
                          </a:solidFill>
                          <a:latin typeface="Microsoft YaHei"/>
                        </a:rPr>
                        <a:t>  会话首调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21.8K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15.9K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−27%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65%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75%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690 ms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420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170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第 2 轮</a:t>
                      </a:r>
                      <a:r>
                        <a:rPr sz="580" b="0">
                          <a:solidFill>
                            <a:srgbClr val="5C6B84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29.1K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10.6K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−64%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60%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86%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1.0 s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180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170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第 3 轮</a:t>
                      </a:r>
                      <a:r>
                        <a:rPr sz="580" b="0">
                          <a:solidFill>
                            <a:srgbClr val="5C6B84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36.3K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10.6K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−71%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55%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88%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1.3 s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180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170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第 4 轮</a:t>
                      </a:r>
                      <a:r>
                        <a:rPr sz="580" b="0">
                          <a:solidFill>
                            <a:srgbClr val="5C6B84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43.4K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10.6K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−76%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52%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90%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1.7 s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180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170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第 5 轮</a:t>
                      </a:r>
                      <a:r>
                        <a:rPr sz="580" b="0">
                          <a:solidFill>
                            <a:srgbClr val="5C6B84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50.5K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10.6K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−79%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49%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91%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2.0 s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180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170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第 6 轮</a:t>
                      </a:r>
                      <a:r>
                        <a:rPr sz="580" b="0">
                          <a:solidFill>
                            <a:srgbClr val="5C6B84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57.6K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10.6K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−82%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47%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2.3 s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180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170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第 10 轮</a:t>
                      </a:r>
                      <a:r>
                        <a:rPr sz="580" b="0">
                          <a:solidFill>
                            <a:srgbClr val="5C6B84"/>
                          </a:solidFill>
                          <a:latin typeface="Microsoft YaHei"/>
                        </a:rPr>
                        <a:t>  裁剪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86.1K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10.6K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−88%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40%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94%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3.6 s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0">
                          <a:solidFill>
                            <a:srgbClr val="059669"/>
                          </a:solidFill>
                          <a:latin typeface="Consolas"/>
                        </a:rPr>
                        <a:t>180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170 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53912" y="822960"/>
            <a:ext cx="5715000" cy="4617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905256"/>
            <a:ext cx="1051560" cy="182880"/>
          </a:xfrm>
          <a:prstGeom prst="roundRect">
            <a:avLst>
              <a:gd name="adj" fmla="val 25000"/>
            </a:avLst>
          </a:prstGeom>
          <a:solidFill>
            <a:srgbClr val="DB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13716" bIns="13716" wrap="square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563EB"/>
                </a:solidFill>
                <a:latin typeface="Microsoft YaHei"/>
              </a:rPr>
              <a:t>L 轮的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2" y="859536"/>
            <a:ext cx="4434840" cy="274320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F2A3D"/>
                </a:solidFill>
                <a:latin typeface="Microsoft YaHei"/>
              </a:rPr>
              <a:t>session 视角</a:t>
            </a:r>
            <a:r>
              <a:rPr sz="700" b="0">
                <a:solidFill>
                  <a:srgbClr val="5C6B84"/>
                </a:solidFill>
                <a:latin typeface="Microsoft YaHei"/>
              </a:rPr>
              <a:t>  一条 L 轮的 session 全部调用累加;实测 80k 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17043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A9C1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 wrap="square"/>
          <a:lstStyle/>
          <a:p>
            <a:pPr algn="l">
              <a:lnSpc>
                <a:spcPct val="110000"/>
              </a:lnSpc>
            </a:pPr>
            <a:r>
              <a:rPr sz="700" b="1">
                <a:solidFill>
                  <a:srgbClr val="2563EB"/>
                </a:solidFill>
                <a:latin typeface="Microsoft YaHei"/>
              </a:rPr>
              <a:t>全量  </a:t>
            </a:r>
            <a:r>
              <a:rPr sz="700" b="1">
                <a:solidFill>
                  <a:srgbClr val="1F2A3D"/>
                </a:solidFill>
                <a:latin typeface="Microsoft YaHei"/>
              </a:rPr>
              <a:t>按实测 session 分布(均 1.35 轮,83% 只有 1 轮)加权 → </a:t>
            </a:r>
            <a:r>
              <a:rPr sz="700" b="0">
                <a:solidFill>
                  <a:srgbClr val="1F2A3D"/>
                </a:solidFill>
                <a:latin typeface="Microsoft YaHei"/>
              </a:rPr>
              <a:t>token </a:t>
            </a:r>
            <a:r>
              <a:rPr sz="1000" b="1">
                <a:solidFill>
                  <a:srgbClr val="059669"/>
                </a:solidFill>
                <a:latin typeface="Consolas"/>
              </a:rPr>
              <a:t>−45%</a:t>
            </a:r>
            <a:r>
              <a:rPr sz="700" b="0">
                <a:solidFill>
                  <a:srgbClr val="1F2A3D"/>
                </a:solidFill>
                <a:latin typeface="Microsoft YaHei"/>
              </a:rPr>
              <a:t>(成本 </a:t>
            </a:r>
            <a:r>
              <a:rPr sz="700" b="1">
                <a:solidFill>
                  <a:srgbClr val="059669"/>
                </a:solidFill>
                <a:latin typeface="Consolas"/>
              </a:rPr>
              <a:t>−35%</a:t>
            </a:r>
            <a:r>
              <a:rPr sz="700" b="0">
                <a:solidFill>
                  <a:srgbClr val="1F2A3D"/>
                </a:solidFill>
                <a:latin typeface="Microsoft YaHei"/>
              </a:rPr>
              <a:t>)· cache 命中率 </a:t>
            </a:r>
            <a:r>
              <a:rPr sz="700" b="1">
                <a:solidFill>
                  <a:srgbClr val="DC2626"/>
                </a:solidFill>
                <a:latin typeface="Consolas"/>
              </a:rPr>
              <a:t>62%</a:t>
            </a:r>
            <a:r>
              <a:rPr sz="700" b="0">
                <a:solidFill>
                  <a:srgbClr val="5C6B84"/>
                </a:solidFill>
                <a:latin typeface="Microsoft YaHei"/>
              </a:rPr>
              <a:t> → </a:t>
            </a:r>
            <a:r>
              <a:rPr sz="1000" b="1">
                <a:solidFill>
                  <a:srgbClr val="059669"/>
                </a:solidFill>
                <a:latin typeface="Consolas"/>
              </a:rPr>
              <a:t>80%</a:t>
            </a:r>
          </a:p>
          <a:p>
            <a:pPr algn="l">
              <a:lnSpc>
                <a:spcPct val="110000"/>
              </a:lnSpc>
            </a:pPr>
            <a:r>
              <a:rPr sz="620" b="0">
                <a:solidFill>
                  <a:srgbClr val="5C6B84"/>
                </a:solidFill>
                <a:latin typeface="Microsoft YaHei"/>
              </a:rPr>
              <a:t>每 session 的数已按业务加权,全量 = 再按 session 长度分布加权;新架构上线后 session 变长、收益向长 session 靠。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245352" y="1792224"/>
          <a:ext cx="553212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45352" y="3822192"/>
            <a:ext cx="5532120" cy="201168"/>
          </a:xfrm>
          <a:prstGeom prst="rect">
            <a:avLst/>
          </a:prstGeom>
          <a:noFill/>
        </p:spPr>
        <p:txBody>
          <a:bodyPr wrap="none" anchor="ctr" lIns="27432" rIns="27432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F2A3D"/>
                </a:solidFill>
                <a:latin typeface="Microsoft YaHei"/>
              </a:rPr>
              <a:t>按 session 长度分桶</a:t>
            </a:r>
            <a:r>
              <a:rPr sz="600" b="0">
                <a:solidFill>
                  <a:srgbClr val="5C6B84"/>
                </a:solidFill>
                <a:latin typeface="Microsoft YaHei"/>
              </a:rPr>
              <a:t>  6–9 / 10+ 为组内加权,10 轮+ 按 12 轮;命中率 = session 累计;柱顶 = 降幅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45352" y="4041648"/>
          <a:ext cx="5532117" cy="14813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13878"/>
                <a:gridCol w="518636"/>
                <a:gridCol w="760666"/>
                <a:gridCol w="760666"/>
                <a:gridCol w="518636"/>
                <a:gridCol w="656939"/>
                <a:gridCol w="1002696"/>
              </a:tblGrid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L 轮的 session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当前 / session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目标 / session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降幅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占当前算力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60" b="1">
                          <a:solidFill>
                            <a:srgbClr val="2563EB"/>
                          </a:solidFill>
                          <a:latin typeface="Microsoft YaHei"/>
                        </a:rPr>
                        <a:t>session 累计命中率</a:t>
                      </a:r>
                    </a:p>
                  </a:txBody>
                  <a:tcPr marL="45720" marR="45720" marT="9144" marB="9144" anchor="ctr">
                    <a:solidFill>
                      <a:srgbClr val="F7F9F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1 轮的 session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82.6%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21.8K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15.9K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−27%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51%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65%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75%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2 轮的 session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10.2%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50.9K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26.5K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−48%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15%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62%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81%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3 轮的 session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3.5%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87.2K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37.1K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−57%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60%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84%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4 轮的 session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1.5%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130.5K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47.7K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−63%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57%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86%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5 轮的 session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0.8%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181K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58.3K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−68%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55%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87%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6–9 轮的 session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1.1%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均 304.6K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均 79.2K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−74%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52%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89%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680" b="1">
                          <a:solidFill>
                            <a:srgbClr val="1F2A3D"/>
                          </a:solidFill>
                          <a:latin typeface="Microsoft YaHei"/>
                        </a:rPr>
                        <a:t>10 轮+ 的 session(裁剪)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0.4%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均 712.5K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均 132.7K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−81%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1F2A3D"/>
                          </a:solidFill>
                          <a:latin typeface="Consolas"/>
                        </a:rPr>
                        <a:t>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80" b="0">
                          <a:solidFill>
                            <a:srgbClr val="DC2626"/>
                          </a:solidFill>
                          <a:latin typeface="Consolas"/>
                        </a:rPr>
                        <a:t>46%</a:t>
                      </a:r>
                      <a:r>
                        <a:rPr sz="680" b="0">
                          <a:solidFill>
                            <a:srgbClr val="5C6B84"/>
                          </a:solidFill>
                          <a:latin typeface="Microsoft YaHei"/>
                        </a:rPr>
                        <a:t> → </a:t>
                      </a:r>
                      <a:r>
                        <a:rPr sz="680" b="1">
                          <a:solidFill>
                            <a:srgbClr val="059669"/>
                          </a:solidFill>
                          <a:latin typeface="Consolas"/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F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20040" y="5532120"/>
            <a:ext cx="2804922" cy="78638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733288"/>
            <a:ext cx="292608" cy="146304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>
                <a:solidFill>
                  <a:srgbClr val="1F2A3D"/>
                </a:solidFill>
                <a:latin typeface="Microsoft YaHei"/>
              </a:rPr>
              <a:t>会话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" y="5760720"/>
            <a:ext cx="79576" cy="914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5733288"/>
            <a:ext cx="365760" cy="146304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563EB"/>
                </a:solidFill>
                <a:latin typeface="Consolas"/>
              </a:rPr>
              <a:t>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916168"/>
            <a:ext cx="292608" cy="146304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>
                <a:solidFill>
                  <a:srgbClr val="1F2A3D"/>
                </a:solidFill>
                <a:latin typeface="Microsoft YaHei"/>
              </a:rPr>
              <a:t>算力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" y="5943600"/>
            <a:ext cx="225441" cy="9144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916168"/>
            <a:ext cx="365760" cy="146304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DC2626"/>
                </a:solidFill>
                <a:latin typeface="Consolas"/>
              </a:rPr>
              <a:t>49%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32120"/>
            <a:ext cx="1570482" cy="7863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6000"/>
              </a:lnSpc>
            </a:pPr>
            <a:r>
              <a:rPr sz="680" b="0">
                <a:solidFill>
                  <a:srgbClr val="5C6B84"/>
                </a:solidFill>
                <a:latin typeface="Microsoft YaHei"/>
              </a:rPr>
              <a:t>2 轮以上的 session 只占 </a:t>
            </a:r>
            <a:r>
              <a:rPr sz="680" b="1">
                <a:solidFill>
                  <a:srgbClr val="5C6B84"/>
                </a:solidFill>
                <a:latin typeface="Microsoft YaHei"/>
              </a:rPr>
              <a:t>17%</a:t>
            </a:r>
            <a:r>
              <a:rPr sz="680" b="0">
                <a:solidFill>
                  <a:srgbClr val="5C6B84"/>
                </a:solidFill>
                <a:latin typeface="Microsoft YaHei"/>
              </a:rPr>
              <a:t>,却吃掉 </a:t>
            </a:r>
            <a:r>
              <a:rPr sz="680" b="1">
                <a:solidFill>
                  <a:srgbClr val="5C6B84"/>
                </a:solidFill>
                <a:latin typeface="Microsoft YaHei"/>
              </a:rPr>
              <a:t>49%</a:t>
            </a:r>
            <a:r>
              <a:rPr sz="680" b="1">
                <a:solidFill>
                  <a:srgbClr val="5C6B84"/>
                </a:solidFill>
                <a:latin typeface="Microsoft YaHei"/>
              </a:rPr>
              <a:t> 的算力</a:t>
            </a:r>
            <a:r>
              <a:rPr sz="680" b="0">
                <a:solidFill>
                  <a:srgbClr val="5C6B84"/>
                </a:solidFill>
                <a:latin typeface="Microsoft YaHei"/>
              </a:rPr>
              <a:t>,贡献 69% 的节省;越长省得越多。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34690" y="5532120"/>
            <a:ext cx="2804922" cy="78638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26130" y="5532120"/>
            <a:ext cx="1051560" cy="786384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3.9K</a:t>
            </a:r>
          </a:p>
          <a:p>
            <a:pPr algn="l">
              <a:lnSpc>
                <a:spcPct val="100000"/>
              </a:lnSpc>
            </a:pPr>
            <a:r>
              <a:rPr sz="600" b="1">
                <a:solidFill>
                  <a:srgbClr val="5C6B84"/>
                </a:solidFill>
                <a:latin typeface="Microsoft YaHei"/>
              </a:rPr>
              <a:t>Q≥2 首调必算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7690" y="5532120"/>
            <a:ext cx="1570482" cy="7863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6000"/>
              </a:lnSpc>
            </a:pPr>
            <a:r>
              <a:rPr sz="680" b="1">
                <a:solidFill>
                  <a:srgbClr val="5C6B84"/>
                </a:solidFill>
                <a:latin typeface="Microsoft YaHei"/>
              </a:rPr>
              <a:t>会话级可提前算,首调时延与轮数脱钩。</a:t>
            </a:r>
            <a:r>
              <a:rPr sz="680" b="0">
                <a:solidFill>
                  <a:srgbClr val="5C6B84"/>
                </a:solidFill>
                <a:latin typeface="Microsoft YaHei"/>
              </a:rPr>
              <a:t>83% 的 session 只有 1 轮,预热后 TTFT ≈ 170 ms + 业务必带。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9340" y="5532120"/>
            <a:ext cx="2804922" cy="78638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0780" y="5532120"/>
            <a:ext cx="1051560" cy="786384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白算 → 0</a:t>
            </a:r>
          </a:p>
          <a:p>
            <a:pPr algn="l">
              <a:lnSpc>
                <a:spcPct val="100000"/>
              </a:lnSpc>
            </a:pPr>
            <a:r>
              <a:rPr sz="600" b="1">
                <a:solidFill>
                  <a:srgbClr val="5C6B84"/>
                </a:solidFill>
                <a:latin typeface="Microsoft YaHei"/>
              </a:rPr>
              <a:t>命中率 62% → 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2340" y="5532120"/>
            <a:ext cx="1570482" cy="7863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6000"/>
              </a:lnSpc>
            </a:pPr>
            <a:r>
              <a:rPr sz="680" b="1">
                <a:solidFill>
                  <a:srgbClr val="5C6B84"/>
                </a:solidFill>
                <a:latin typeface="Microsoft YaHei"/>
              </a:rPr>
              <a:t>白算归零是验收线,必算是下一步</a:t>
            </a:r>
            <a:r>
              <a:rPr sz="680" b="0">
                <a:solidFill>
                  <a:srgbClr val="5C6B84"/>
                </a:solidFill>
                <a:latin typeface="Microsoft YaHei"/>
              </a:rPr>
              <a:t>:历史 4K 整段载入改摘要、available skills 3K 升会话级。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63990" y="5532120"/>
            <a:ext cx="2804922" cy="786384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5430" y="5532120"/>
            <a:ext cx="1051560" cy="786384"/>
          </a:xfrm>
          <a:prstGeom prst="rect">
            <a:avLst/>
          </a:prstGeom>
          <a:noFill/>
        </p:spPr>
        <p:txBody>
          <a:bodyPr wrap="square" anchor="ctr" lIns="0" rIns="0" tIns="13716" bIns="13716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onsolas"/>
              </a:rPr>
              <a:t>效果不变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6990" y="5532120"/>
            <a:ext cx="1570482" cy="786384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6000"/>
              </a:lnSpc>
            </a:pPr>
            <a:r>
              <a:rPr sz="680" b="1">
                <a:solidFill>
                  <a:srgbClr val="5C6B84"/>
                </a:solidFill>
                <a:latin typeface="Microsoft YaHei"/>
              </a:rPr>
              <a:t>动态下沉 U 已上线,对话效果影响不大</a:t>
            </a:r>
            <a:r>
              <a:rPr sz="680" b="0">
                <a:solidFill>
                  <a:srgbClr val="5C6B84"/>
                </a:solidFill>
                <a:latin typeface="Microsoft YaHei"/>
              </a:rPr>
              <a:t>;后两步只改顺序不改内容,不引入效果风险。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19088"/>
            <a:ext cx="923544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成本按计价折算 ≈0.79 × token 降幅。裁剪:第 10 轮起上下文裁剪,本会话史累积封顶 9 轮;10 轮+ 桶按 12 轮计。前提:会话内缓存不被逐出(实测 2/21 次 loop 全 miss 属引擎侧逐出 / 路由,需会话粘性 + TTL,单独报警)。实测对照:当前命中率约 60%(推演 62%)、平均实算约 12K/调用,目标 7K;TTFT 待 prefill 吞吐实测(E6)替换;上线后由日报(引擎 cached_tokens + 应用边界埋点)替换推演。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419088"/>
            <a:ext cx="2286000" cy="384048"/>
          </a:xfrm>
          <a:prstGeom prst="rect">
            <a:avLst/>
          </a:prstGeom>
          <a:noFill/>
        </p:spPr>
        <p:txBody>
          <a:bodyPr wrap="square" anchor="ctr" lIns="27432" rIns="27432" tIns="13716" bIns="13716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5C6B84"/>
                </a:solidFill>
                <a:latin typeface="Microsoft YaHei"/>
              </a:rPr>
              <a:t>KV Cache 方案(汇报版)· PPT v2 · P3 轮数收益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