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1">
                <a:solidFill>
                  <a:srgbClr val="1E2A3D"/>
                </a:solidFill>
                <a:latin typeface="Microsoft YaHei"/>
                <a:ea typeface="Microsoft YaHei"/>
              </a:rPr>
              <a:t>工具参数变量解析机制方案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46304"/>
            <a:ext cx="7242048" cy="713232"/>
          </a:xfrm>
          <a:prstGeom prst="roundRect">
            <a:avLst>
              <a:gd name="adj" fmla="val 5000"/>
            </a:avLst>
          </a:prstGeom>
          <a:solidFill>
            <a:srgbClr val="ECF2FC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01168"/>
            <a:ext cx="690372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2F6FED"/>
                </a:solidFill>
                <a:latin typeface="Consolas"/>
              </a:rPr>
              <a:t>${ app . 抖音 . bundleName }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namespace . entity . attribute 三段式，命名空间可扩展；模型只表达“哪个应用”，真实标识符由框架在工具调用前查表求值。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41605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3794760" cy="29352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D97A06"/>
                </a:solidFill>
                <a:latin typeface="Microsoft YaHei"/>
                <a:ea typeface="Microsoft YaHei"/>
              </a:rPr>
              <a:t>● 问题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两次 loop：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模型须先调 getAllInstalledApps 查 bundleName，再调 forbidPermission(bundleName, 权限)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幻觉风险：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凭记忆填写 bundleName 可能编造（如 com.douyin.app）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硬约束：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工具不可修改，带 bundleName 的工具很多，无法逐个改造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600" b="0">
                <a:solidFill>
                  <a:srgbClr val="5A6B84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EA578"/>
                </a:solidFill>
                <a:latin typeface="Microsoft YaHei"/>
                <a:ea typeface="Microsoft YaHei"/>
              </a:rPr>
              <a:t>● 目标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• 正常路径 </a:t>
            </a: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1 次 loop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 完成调用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工具零改动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，同类工具自动全覆盖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• 真实标识符永远来自查表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，结构性消除幻觉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45736" y="1005840"/>
            <a:ext cx="7061911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28616" y="1115568"/>
            <a:ext cx="6696151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>
                <a:solidFill>
                  <a:srgbClr val="2F6FED"/>
                </a:solidFill>
                <a:latin typeface="Microsoft YaHei"/>
                <a:ea typeface="Microsoft YaHei"/>
              </a:rPr>
              <a:t>● 关键设计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8616" y="1444752"/>
            <a:ext cx="1234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1">
                <a:solidFill>
                  <a:srgbClr val="1E2A3D"/>
                </a:solidFill>
                <a:latin typeface="Microsoft YaHei"/>
                <a:ea typeface="Microsoft YaHei"/>
              </a:rPr>
              <a:t>两张表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800" b="0">
                <a:solidFill>
                  <a:srgbClr val="2F6FED"/>
                </a:solidFill>
                <a:latin typeface="Microsoft YaHei"/>
                <a:ea typeface="Microsoft YaHei"/>
              </a:rPr>
              <a:t>数据基础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408176"/>
            <a:ext cx="2616555" cy="621792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E2A3D"/>
                </a:solidFill>
                <a:latin typeface="Consolas"/>
                <a:ea typeface="Microsoft YaHei"/>
              </a:rPr>
              <a:t>同义词表 · 别名归一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douyin / Douyin → 抖音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8211" y="1408176"/>
            <a:ext cx="2616555" cy="621792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1E2A3D"/>
                </a:solidFill>
                <a:latin typeface="Consolas"/>
                <a:ea typeface="Microsoft YaHei"/>
              </a:rPr>
              <a:t>映射表 · 规范名 → bundleName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抖音 → com.ss.android.ugc.aweme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2249424"/>
            <a:ext cx="12344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1">
                <a:solidFill>
                  <a:srgbClr val="1E2A3D"/>
                </a:solidFill>
                <a:latin typeface="Microsoft YaHei"/>
                <a:ea typeface="Microsoft YaHei"/>
              </a:rPr>
              <a:t>Pre-call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1">
                <a:solidFill>
                  <a:srgbClr val="1E2A3D"/>
                </a:solidFill>
                <a:latin typeface="Microsoft YaHei"/>
                <a:ea typeface="Microsoft YaHei"/>
              </a:rPr>
              <a:t>拦截器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750" b="0">
                <a:solidFill>
                  <a:srgbClr val="2F6FED"/>
                </a:solidFill>
                <a:latin typeface="Microsoft YaHei"/>
                <a:ea typeface="Microsoft YaHei"/>
              </a:rPr>
              <a:t>框架层·工具无感知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231136"/>
            <a:ext cx="5370271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工具调用前扫描参数中的 ${...}，查表替换为真实值；解析失败则短路，不把变量字面量透传给工具。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761488"/>
            <a:ext cx="5370271" cy="38404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24405F"/>
                </a:solidFill>
                <a:latin typeface="Consolas"/>
                <a:ea typeface="Microsoft YaHei"/>
              </a:rPr>
              <a:t>扫描 ${...}  →  同义词归一  →  查映射表  →  替换真实值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3310128"/>
            <a:ext cx="1234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1">
                <a:solidFill>
                  <a:srgbClr val="1E2A3D"/>
                </a:solidFill>
                <a:latin typeface="Microsoft YaHei"/>
                <a:ea typeface="Microsoft YaHei"/>
              </a:rPr>
              <a:t>Skill 设计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800" b="0">
                <a:solidFill>
                  <a:srgbClr val="2F6FED"/>
                </a:solidFill>
                <a:latin typeface="Microsoft YaHei"/>
                <a:ea typeface="Microsoft YaHei"/>
              </a:rPr>
              <a:t>提示词约定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3291840"/>
            <a:ext cx="537027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bundleName 参数直接填 ${app.应用名.bundleName}，无需先查已安装列表，禁止凭记忆编造标识符。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694176"/>
            <a:ext cx="5370271" cy="3657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forbidPermission(bundleName=</a:t>
            </a:r>
            <a:r>
              <a:rPr sz="850" b="1">
                <a:solidFill>
                  <a:srgbClr val="0EA578"/>
                </a:solidFill>
                <a:latin typeface="Consolas"/>
                <a:ea typeface="Microsoft YaHei"/>
              </a:rPr>
              <a:t>"${app.抖音.bundleName}"</a:t>
            </a: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, permission=</a:t>
            </a:r>
            <a:r>
              <a:rPr sz="850" b="1">
                <a:solidFill>
                  <a:srgbClr val="0EA578"/>
                </a:solidFill>
                <a:latin typeface="Consolas"/>
                <a:ea typeface="Microsoft YaHei"/>
              </a:rPr>
              <a:t>"麦克风"</a:t>
            </a: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343400"/>
            <a:ext cx="11423599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434840"/>
            <a:ext cx="543747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0EA578"/>
                </a:solidFill>
                <a:latin typeface="Microsoft YaHei"/>
                <a:ea typeface="Microsoft YaHei"/>
              </a:rPr>
              <a:t>正常路径 · 1 次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09160"/>
            <a:ext cx="5346039" cy="5029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模型输出 ${app.抖音.bundleName} → 拦截器查表（同义词+映射）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→ 替换真实值 com.ss.android... → 执行工具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434840"/>
            <a:ext cx="5437479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D97A06"/>
                </a:solidFill>
                <a:latin typeface="Microsoft YaHei"/>
                <a:ea typeface="Microsoft YaHei"/>
              </a:rPr>
              <a:t>兜底路径 · 解析失败时（可选）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4709160"/>
            <a:ext cx="5346039" cy="50292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F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解析失败 → 查询全量已安装应用 getAllInstalledApps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24405F"/>
                </a:solidFill>
                <a:latin typeface="Consolas"/>
                <a:ea typeface="Microsoft YaHei"/>
              </a:rPr>
              <a:t>→ 列表 + 错误作为 tool result 给模型 → 模型纠正后重试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330952"/>
            <a:ext cx="11057839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1">
                <a:solidFill>
                  <a:srgbClr val="7C5CD6"/>
                </a:solidFill>
                <a:latin typeface="Microsoft YaHei"/>
                <a:ea typeface="Microsoft YaHei"/>
              </a:rPr>
              <a:t>进一步优化  </a:t>
            </a: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① 标准名列表注入：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会话开始时把已安装应用的标准名称列表给到模型，从封闭词表选名，兜底触发概率大幅降低。  </a:t>
            </a:r>
            <a:r>
              <a:rPr sz="900" b="1">
                <a:solidFill>
                  <a:srgbClr val="1E2A3D"/>
                </a:solidFill>
                <a:latin typeface="Microsoft YaHei"/>
                <a:ea typeface="Microsoft YaHei"/>
              </a:rPr>
              <a:t>② 工具 schema 改写：</a:t>
            </a:r>
            <a:r>
              <a:rPr sz="900" b="0">
                <a:solidFill>
                  <a:srgbClr val="5A6B84"/>
                </a:solidFill>
                <a:latin typeface="Microsoft YaHei"/>
                <a:ea typeface="Microsoft YaHei"/>
              </a:rPr>
              <a:t>框架注册层把 bundleName 参数重定义为 appName，拦截器转换后调用原工具——模型直接传“抖音”；变量语法保留为通用机制。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1">
                <a:solidFill>
                  <a:srgbClr val="0EA578"/>
                </a:solidFill>
                <a:latin typeface="Microsoft YaHei"/>
                <a:ea typeface="Microsoft YaHei"/>
              </a:rPr>
              <a:t>◎ 方案不变量：</a:t>
            </a:r>
            <a:r>
              <a:rPr sz="900" b="0">
                <a:solidFill>
                  <a:srgbClr val="1E2A3D"/>
                </a:solidFill>
                <a:latin typeface="Microsoft YaHei"/>
                <a:ea typeface="Microsoft YaHei"/>
              </a:rPr>
              <a:t>模型永远只表达“哪个应用”，真实标识符永远来自查表 —— 幻觉被结构性消除，绝大多数情况 loop 压到 1 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