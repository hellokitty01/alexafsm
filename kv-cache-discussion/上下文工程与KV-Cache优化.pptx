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164592"/>
            <a:ext cx="115214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1F2937"/>
                </a:solidFill>
                <a:latin typeface="Microsoft YaHei"/>
                <a:ea typeface="Microsoft YaHei"/>
              </a:rPr>
              <a:t>现状与问题：</a:t>
            </a:r>
            <a:r>
              <a:rPr sz="2000" b="1">
                <a:solidFill>
                  <a:srgbClr val="2563EB"/>
                </a:solidFill>
                <a:latin typeface="Microsoft YaHei"/>
                <a:ea typeface="Microsoft YaHei"/>
              </a:rPr>
              <a:t>命中率为何只有 66%</a:t>
            </a:r>
            <a:r>
              <a:rPr sz="2000" b="1">
                <a:solidFill>
                  <a:srgbClr val="1F2937"/>
                </a:solidFill>
                <a:latin typeface="Microsoft YaHei"/>
                <a:ea typeface="Microsoft YaHei"/>
              </a:rPr>
              <a:t> —— 失效范围含 Tools 与全部历史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20040" y="658368"/>
            <a:ext cx="3727704" cy="713232"/>
          </a:xfrm>
          <a:prstGeom prst="roundRect">
            <a:avLst>
              <a:gd name="adj" fmla="val 12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79" y="722376"/>
            <a:ext cx="3544824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D97706"/>
                </a:solidFill>
                <a:latin typeface="Microsoft YaHei"/>
                <a:ea typeface="Microsoft YaHei"/>
              </a:rPr>
              <a:t>66%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79" y="1024128"/>
            <a:ext cx="3544824" cy="3017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850" b="0">
                <a:solidFill>
                  <a:srgbClr val="64748B"/>
                </a:solidFill>
                <a:latin typeface="Microsoft YaHei"/>
                <a:ea typeface="Microsoft YaHei"/>
              </a:rPr>
              <a:t>现网 KV cache 命中率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230624" y="658368"/>
            <a:ext cx="3727704" cy="713232"/>
          </a:xfrm>
          <a:prstGeom prst="roundRect">
            <a:avLst>
              <a:gd name="adj" fmla="val 12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322064" y="722376"/>
            <a:ext cx="3544824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2563EB"/>
                </a:solidFill>
                <a:latin typeface="Microsoft YaHei"/>
                <a:ea typeface="Microsoft YaHei"/>
              </a:rPr>
              <a:t>37K / 25K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22064" y="1024128"/>
            <a:ext cx="3544824" cy="3017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850" b="0">
                <a:solidFill>
                  <a:srgbClr val="64748B"/>
                </a:solidFill>
                <a:latin typeface="Microsoft YaHei"/>
                <a:ea typeface="Microsoft YaHei"/>
              </a:rPr>
              <a:t>平均每请求输入 / 命中（miss 12K）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41208" y="658368"/>
            <a:ext cx="3727704" cy="713232"/>
          </a:xfrm>
          <a:prstGeom prst="roundRect">
            <a:avLst>
              <a:gd name="adj" fmla="val 12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32648" y="722376"/>
            <a:ext cx="3544824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2563EB"/>
                </a:solidFill>
                <a:latin typeface="Microsoft YaHei"/>
                <a:ea typeface="Microsoft YaHei"/>
              </a:rPr>
              <a:t>~60K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32648" y="1024128"/>
            <a:ext cx="3544824" cy="3017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850" b="0">
                <a:solidFill>
                  <a:srgbClr val="64748B"/>
                </a:solidFill>
                <a:latin typeface="Microsoft YaHei"/>
                <a:ea typeface="Microsoft YaHei"/>
              </a:rPr>
              <a:t>会话上下文规模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20040" y="1481328"/>
            <a:ext cx="6537960" cy="4498848"/>
          </a:xfrm>
          <a:prstGeom prst="roundRect">
            <a:avLst>
              <a:gd name="adj" fmla="val 12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1572768"/>
            <a:ext cx="6217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1F2937"/>
                </a:solidFill>
                <a:latin typeface="Microsoft YaHei"/>
                <a:ea typeface="Microsoft YaHei"/>
              </a:rPr>
              <a:t>三个独立实体的物理拼接（自上而下 = 前缀从前到后）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75488" y="1938528"/>
            <a:ext cx="1005840" cy="1572767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64748B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21208" y="1938528"/>
            <a:ext cx="914400" cy="157276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1F2937"/>
                </a:solidFill>
                <a:latin typeface="Microsoft YaHei"/>
                <a:ea typeface="Microsoft YaHei"/>
              </a:rPr>
              <a:t>① System Prompt</a:t>
            </a:r>
          </a:p>
          <a:p>
            <a:pPr algn="ctr">
              <a:lnSpc>
                <a:spcPct val="100000"/>
              </a:lnSpc>
            </a:pPr>
            <a:r>
              <a:rPr sz="750" b="0">
                <a:solidFill>
                  <a:srgbClr val="64748B"/>
                </a:solidFill>
                <a:latin typeface="Microsoft YaHei"/>
                <a:ea typeface="Microsoft YaHei"/>
              </a:rPr>
              <a:t>单字段：产品/会话/query级拼于正文内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75488" y="3584448"/>
            <a:ext cx="1005840" cy="47548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64748B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21208" y="3584448"/>
            <a:ext cx="914400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1F2937"/>
                </a:solidFill>
                <a:latin typeface="Microsoft YaHei"/>
                <a:ea typeface="Microsoft YaHei"/>
              </a:rPr>
              <a:t>② Tools</a:t>
            </a:r>
          </a:p>
          <a:p>
            <a:pPr algn="ctr">
              <a:lnSpc>
                <a:spcPct val="100000"/>
              </a:lnSpc>
            </a:pPr>
            <a:r>
              <a:rPr sz="750" b="0">
                <a:solidFill>
                  <a:srgbClr val="64748B"/>
                </a:solidFill>
                <a:latin typeface="Microsoft YaHei"/>
                <a:ea typeface="Microsoft YaHei"/>
              </a:rPr>
              <a:t>独立字段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75488" y="4133087"/>
            <a:ext cx="1005840" cy="1572767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64748B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21208" y="4133087"/>
            <a:ext cx="914400" cy="157276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1F2937"/>
                </a:solidFill>
                <a:latin typeface="Microsoft YaHei"/>
                <a:ea typeface="Microsoft YaHei"/>
              </a:rPr>
              <a:t>③ UAT</a:t>
            </a:r>
          </a:p>
          <a:p>
            <a:pPr algn="ctr">
              <a:lnSpc>
                <a:spcPct val="100000"/>
              </a:lnSpc>
            </a:pPr>
            <a:r>
              <a:rPr sz="750" b="0">
                <a:solidFill>
                  <a:srgbClr val="64748B"/>
                </a:solidFill>
                <a:latin typeface="Microsoft YaHei"/>
                <a:ea typeface="Microsoft YaHei"/>
              </a:rPr>
              <a:t>messages 消息流（loop级）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572768" y="1938528"/>
            <a:ext cx="4553712" cy="475488"/>
          </a:xfrm>
          <a:prstGeom prst="roundRect">
            <a:avLst>
              <a:gd name="adj" fmla="val 12000"/>
            </a:avLst>
          </a:prstGeom>
          <a:solidFill>
            <a:srgbClr val="F8FAFC"/>
          </a:solidFill>
          <a:ln w="12700">
            <a:solidFill>
              <a:srgbClr val="6EE7B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682495" y="1938528"/>
            <a:ext cx="1051560" cy="475488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059669"/>
                </a:solidFill>
                <a:latin typeface="Microsoft YaHei"/>
                <a:ea typeface="Microsoft YaHei"/>
              </a:rPr>
              <a:t>产品级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779776" y="1938528"/>
            <a:ext cx="3227832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850" b="0">
                <a:solidFill>
                  <a:srgbClr val="64748B"/>
                </a:solidFill>
                <a:latin typeface="Microsoft YaHei"/>
                <a:ea typeface="Microsoft YaHei"/>
              </a:rPr>
              <a:t>agent 关键原则，所有用户相同 ✓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572768" y="2487168"/>
            <a:ext cx="4553712" cy="475488"/>
          </a:xfrm>
          <a:prstGeom prst="roundRect">
            <a:avLst>
              <a:gd name="adj" fmla="val 12000"/>
            </a:avLst>
          </a:prstGeom>
          <a:solidFill>
            <a:srgbClr val="F8FAFC"/>
          </a:solidFill>
          <a:ln w="12700">
            <a:solidFill>
              <a:srgbClr val="6EE7B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682495" y="2487168"/>
            <a:ext cx="1051560" cy="475488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059669"/>
                </a:solidFill>
                <a:latin typeface="Microsoft YaHei"/>
                <a:ea typeface="Microsoft YaHei"/>
              </a:rPr>
              <a:t>会话级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779776" y="2487168"/>
            <a:ext cx="3227832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850" b="0">
                <a:solidFill>
                  <a:srgbClr val="64748B"/>
                </a:solidFill>
                <a:latin typeface="Microsoft YaHei"/>
                <a:ea typeface="Microsoft YaHei"/>
              </a:rPr>
              <a:t>用户信息、长期记忆，多轮更新一次 ✓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572768" y="3035808"/>
            <a:ext cx="4553712" cy="475488"/>
          </a:xfrm>
          <a:prstGeom prst="roundRect">
            <a:avLst>
              <a:gd name="adj" fmla="val 12000"/>
            </a:avLst>
          </a:prstGeom>
          <a:solidFill>
            <a:srgbClr val="FEE2E2"/>
          </a:solidFill>
          <a:ln w="12700">
            <a:solidFill>
              <a:srgbClr val="FCA5A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682495" y="3035808"/>
            <a:ext cx="1051560" cy="475488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DC2626"/>
                </a:solidFill>
                <a:latin typeface="Microsoft YaHei"/>
                <a:ea typeface="Microsoft YaHei"/>
              </a:rPr>
              <a:t>query级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779776" y="3035808"/>
            <a:ext cx="3227832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850" b="0">
                <a:solidFill>
                  <a:srgbClr val="64748B"/>
                </a:solidFill>
                <a:latin typeface="Microsoft YaHei"/>
                <a:ea typeface="Microsoft YaHei"/>
              </a:rPr>
              <a:t>available skills（基于 query 搜索）+ 相关知识/用户信息 + 环境上下文，</a:t>
            </a:r>
            <a:r>
              <a:rPr sz="850" b="1">
                <a:solidFill>
                  <a:srgbClr val="DC2626"/>
                </a:solidFill>
                <a:latin typeface="Microsoft YaHei"/>
                <a:ea typeface="Microsoft YaHei"/>
              </a:rPr>
              <a:t>每 query 原位重写 ✗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1572768" y="3584448"/>
            <a:ext cx="4553712" cy="475488"/>
          </a:xfrm>
          <a:prstGeom prst="roundRect">
            <a:avLst>
              <a:gd name="adj" fmla="val 12000"/>
            </a:avLst>
          </a:prstGeom>
          <a:solidFill>
            <a:srgbClr val="FEF3C7"/>
          </a:solidFill>
          <a:ln w="12700">
            <a:solidFill>
              <a:srgbClr val="FCD3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682495" y="3584448"/>
            <a:ext cx="1051560" cy="475488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D97706"/>
                </a:solidFill>
                <a:latin typeface="Microsoft YaHei"/>
                <a:ea typeface="Microsoft YaHei"/>
              </a:rPr>
              <a:t>Tools块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779776" y="3584448"/>
            <a:ext cx="3227832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850" b="0">
                <a:solidFill>
                  <a:srgbClr val="64748B"/>
                </a:solidFill>
                <a:latin typeface="Microsoft YaHei"/>
                <a:ea typeface="Microsoft YaHei"/>
              </a:rPr>
              <a:t>内容稳定，但模板拼接于 SP 之后 → </a:t>
            </a:r>
            <a:r>
              <a:rPr sz="850" b="1">
                <a:solidFill>
                  <a:srgbClr val="DC2626"/>
                </a:solidFill>
                <a:latin typeface="Microsoft YaHei"/>
                <a:ea typeface="Microsoft YaHei"/>
              </a:rPr>
              <a:t>被 query级重写连带 ✗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572768" y="4133087"/>
            <a:ext cx="4553712" cy="475488"/>
          </a:xfrm>
          <a:prstGeom prst="roundRect">
            <a:avLst>
              <a:gd name="adj" fmla="val 12000"/>
            </a:avLst>
          </a:prstGeom>
          <a:solidFill>
            <a:srgbClr val="DBEAFE"/>
          </a:solidFill>
          <a:ln w="12700">
            <a:solidFill>
              <a:srgbClr val="93C5F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682495" y="4133087"/>
            <a:ext cx="1051560" cy="475488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2563EB"/>
                </a:solidFill>
                <a:latin typeface="Microsoft YaHei"/>
                <a:ea typeface="Microsoft YaHei"/>
              </a:rPr>
              <a:t>loop 1（最旧）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779776" y="4133087"/>
            <a:ext cx="3227832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850" b="0">
                <a:solidFill>
                  <a:srgbClr val="64748B"/>
                </a:solidFill>
                <a:latin typeface="Microsoft YaHei"/>
                <a:ea typeface="Microsoft YaHei"/>
              </a:rPr>
              <a:t>U→[A⇄T ×n]→A　</a:t>
            </a:r>
            <a:r>
              <a:rPr sz="850" b="1">
                <a:solidFill>
                  <a:srgbClr val="DC2626"/>
                </a:solidFill>
                <a:latin typeface="Microsoft YaHei"/>
                <a:ea typeface="Microsoft YaHei"/>
              </a:rPr>
              <a:t>⚡10 轮滑窗从此裁剪，每轮再断一次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1572768" y="4681728"/>
            <a:ext cx="4553712" cy="475488"/>
          </a:xfrm>
          <a:prstGeom prst="roundRect">
            <a:avLst>
              <a:gd name="adj" fmla="val 12000"/>
            </a:avLst>
          </a:prstGeom>
          <a:solidFill>
            <a:srgbClr val="DBEAFE"/>
          </a:solidFill>
          <a:ln w="12700">
            <a:solidFill>
              <a:srgbClr val="93C5F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682495" y="4681728"/>
            <a:ext cx="1051560" cy="475488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2563EB"/>
                </a:solidFill>
                <a:latin typeface="Microsoft YaHei"/>
                <a:ea typeface="Microsoft YaHei"/>
              </a:rPr>
              <a:t>loop 2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779776" y="4681728"/>
            <a:ext cx="3227832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850" b="0">
                <a:solidFill>
                  <a:srgbClr val="64748B"/>
                </a:solidFill>
                <a:latin typeface="Microsoft YaHei"/>
                <a:ea typeface="Microsoft YaHei"/>
              </a:rPr>
              <a:t>U→[A⇄T ×n]→A，loop 内迭代可命中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1572768" y="5230368"/>
            <a:ext cx="4553712" cy="475488"/>
          </a:xfrm>
          <a:prstGeom prst="roundRect">
            <a:avLst>
              <a:gd name="adj" fmla="val 12000"/>
            </a:avLst>
          </a:prstGeom>
          <a:solidFill>
            <a:srgbClr val="F8FAFC"/>
          </a:solidFill>
          <a:ln w="12700">
            <a:solidFill>
              <a:srgbClr val="93C5FD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682495" y="5230368"/>
            <a:ext cx="1051560" cy="475488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2563EB"/>
                </a:solidFill>
                <a:latin typeface="Microsoft YaHei"/>
                <a:ea typeface="Microsoft YaHei"/>
              </a:rPr>
              <a:t>loop 3 …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779776" y="5230368"/>
            <a:ext cx="3227832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850" b="0">
                <a:solidFill>
                  <a:srgbClr val="64748B"/>
                </a:solidFill>
                <a:latin typeface="Microsoft YaHei"/>
                <a:ea typeface="Microsoft YaHei"/>
              </a:rPr>
              <a:t>追加中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236208" y="3035808"/>
            <a:ext cx="457200" cy="2670048"/>
          </a:xfrm>
          <a:prstGeom prst="roundRect">
            <a:avLst>
              <a:gd name="adj" fmla="val 12000"/>
            </a:avLst>
          </a:prstGeom>
          <a:solidFill>
            <a:srgbClr val="FEE2E2"/>
          </a:solidFill>
          <a:ln w="12700">
            <a:solidFill>
              <a:srgbClr val="FCA5A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vert="eaVert"/>
          <a:lstStyle/>
          <a:p>
            <a:pPr algn="ctr"/>
            <a:r>
              <a:rPr sz="800" b="1">
                <a:solidFill>
                  <a:srgbClr val="B91C1C"/>
                </a:solidFill>
                <a:latin typeface="Microsoft YaHei"/>
                <a:ea typeface="Microsoft YaHei"/>
              </a:rPr>
              <a:t>⚡ 每 query 从此失效：query级 + Tools + UAT 全部历史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02920" y="5797296"/>
            <a:ext cx="6217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64748B"/>
                </a:solidFill>
                <a:latin typeface="Microsoft YaHei"/>
                <a:ea typeface="Microsoft YaHei"/>
              </a:rPr>
              <a:t>loop 内部：U query → A call ⇄ T result ×n → A 答复　</a:t>
            </a:r>
            <a:r>
              <a:rPr sz="850" b="1">
                <a:solidFill>
                  <a:srgbClr val="DC2626"/>
                </a:solidFill>
                <a:latin typeface="Microsoft YaHei"/>
                <a:ea typeface="Microsoft YaHei"/>
              </a:rPr>
              <a:t>新 query（loop 切换）= miss 点</a:t>
            </a:r>
            <a:r>
              <a:rPr sz="850" b="0">
                <a:solidFill>
                  <a:srgbClr val="64748B"/>
                </a:solidFill>
                <a:latin typeface="Microsoft YaHei"/>
                <a:ea typeface="Microsoft YaHei"/>
              </a:rPr>
              <a:t>｜</a:t>
            </a:r>
            <a:r>
              <a:rPr sz="850" b="1">
                <a:solidFill>
                  <a:srgbClr val="059669"/>
                </a:solidFill>
                <a:latin typeface="Microsoft YaHei"/>
                <a:ea typeface="Microsoft YaHei"/>
              </a:rPr>
              <a:t>loop 内迭代 = 追加命中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6995160" y="1481328"/>
            <a:ext cx="4873752" cy="1042415"/>
          </a:xfrm>
          <a:prstGeom prst="roundRect">
            <a:avLst>
              <a:gd name="adj" fmla="val 12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159752" y="1563624"/>
            <a:ext cx="4544568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DC2626"/>
                </a:solidFill>
                <a:latin typeface="Microsoft YaHei"/>
                <a:ea typeface="Microsoft YaHei"/>
              </a:rPr>
              <a:t>① query 切换点全量 miss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159752" y="1828800"/>
            <a:ext cx="4544568" cy="6309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880" b="0">
                <a:solidFill>
                  <a:srgbClr val="64748B"/>
                </a:solidFill>
                <a:latin typeface="Microsoft YaHei"/>
                <a:ea typeface="Microsoft YaHei"/>
              </a:rPr>
              <a:t>query级内容重写 → 失效 = </a:t>
            </a:r>
            <a:r>
              <a:rPr sz="880" b="1">
                <a:solidFill>
                  <a:srgbClr val="1F2937"/>
                </a:solidFill>
                <a:latin typeface="Microsoft YaHei"/>
                <a:ea typeface="Microsoft YaHei"/>
              </a:rPr>
              <a:t>query级 + Tools + UAT 全部历史</a:t>
            </a:r>
            <a:r>
              <a:rPr sz="880" b="0">
                <a:solidFill>
                  <a:srgbClr val="64748B"/>
                </a:solidFill>
                <a:latin typeface="Microsoft YaHei"/>
                <a:ea typeface="Microsoft YaHei"/>
              </a:rPr>
              <a:t>，随轮数线性增长；Tools 内容稳定却被连带重算。loop 内可命中，损失集中在每个新 query 首轮。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6995160" y="2633472"/>
            <a:ext cx="4873752" cy="1042415"/>
          </a:xfrm>
          <a:prstGeom prst="roundRect">
            <a:avLst>
              <a:gd name="adj" fmla="val 12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159752" y="2715768"/>
            <a:ext cx="4544568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DC2626"/>
                </a:solidFill>
                <a:latin typeface="Microsoft YaHei"/>
                <a:ea typeface="Microsoft YaHei"/>
              </a:rPr>
              <a:t>② 10 轮滑窗裁剪 = 长对话每轮全量 miss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159752" y="2980944"/>
            <a:ext cx="4544568" cy="6309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880" b="0">
                <a:solidFill>
                  <a:srgbClr val="64748B"/>
                </a:solidFill>
                <a:latin typeface="Microsoft YaHei"/>
                <a:ea typeface="Microsoft YaHei"/>
              </a:rPr>
              <a:t>聊过 10 轮后</a:t>
            </a:r>
            <a:r>
              <a:rPr sz="880" b="1">
                <a:solidFill>
                  <a:srgbClr val="1F2937"/>
                </a:solidFill>
                <a:latin typeface="Microsoft YaHei"/>
                <a:ea typeface="Microsoft YaHei"/>
              </a:rPr>
              <a:t>每新一轮裁最旧一轮</a:t>
            </a:r>
            <a:r>
              <a:rPr sz="880" b="0">
                <a:solidFill>
                  <a:srgbClr val="64748B"/>
                </a:solidFill>
                <a:latin typeface="Microsoft YaHei"/>
                <a:ea typeface="Microsoft YaHei"/>
              </a:rPr>
              <a:t>，前缀头部每轮变化；T 体积大（skill 正文）被单独高频裁剪。</a:t>
            </a:r>
            <a:r>
              <a:rPr sz="880" b="1">
                <a:solidFill>
                  <a:srgbClr val="1F2937"/>
                </a:solidFill>
                <a:latin typeface="Microsoft YaHei"/>
                <a:ea typeface="Microsoft YaHei"/>
              </a:rPr>
              <a:t>长对话阶段比①更严重。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6995160" y="3785615"/>
            <a:ext cx="4873752" cy="1042415"/>
          </a:xfrm>
          <a:prstGeom prst="roundRect">
            <a:avLst>
              <a:gd name="adj" fmla="val 12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7159752" y="3867911"/>
            <a:ext cx="4544568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DC2626"/>
                </a:solidFill>
                <a:latin typeface="Microsoft YaHei"/>
                <a:ea typeface="Microsoft YaHei"/>
              </a:rPr>
              <a:t>③ 相关性绑定丢失 + 历史证据被覆盖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159752" y="4133087"/>
            <a:ext cx="4544568" cy="6309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880" b="0">
                <a:solidFill>
                  <a:srgbClr val="64748B"/>
                </a:solidFill>
                <a:latin typeface="Microsoft YaHei"/>
                <a:ea typeface="Microsoft YaHei"/>
              </a:rPr>
              <a:t>query级槽位与 query </a:t>
            </a:r>
            <a:r>
              <a:rPr sz="880" b="1">
                <a:solidFill>
                  <a:srgbClr val="1F2937"/>
                </a:solidFill>
                <a:latin typeface="Microsoft YaHei"/>
                <a:ea typeface="Microsoft YaHei"/>
              </a:rPr>
              <a:t>无显式对应</a:t>
            </a:r>
            <a:r>
              <a:rPr sz="880" b="0">
                <a:solidFill>
                  <a:srgbClr val="64748B"/>
                </a:solidFill>
                <a:latin typeface="Microsoft YaHei"/>
                <a:ea typeface="Microsoft YaHei"/>
              </a:rPr>
              <a:t>；每轮覆盖式更新，第 N 轮依赖第 N-2 轮检索结果时证据已丢，</a:t>
            </a:r>
            <a:r>
              <a:rPr sz="880" b="1">
                <a:solidFill>
                  <a:srgbClr val="1F2937"/>
                </a:solidFill>
                <a:latin typeface="Microsoft YaHei"/>
                <a:ea typeface="Microsoft YaHei"/>
              </a:rPr>
              <a:t>去重无从谈起。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6995160" y="4937759"/>
            <a:ext cx="4873752" cy="1042415"/>
          </a:xfrm>
          <a:prstGeom prst="roundRect">
            <a:avLst>
              <a:gd name="adj" fmla="val 12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7159752" y="5020055"/>
            <a:ext cx="4544568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DC2626"/>
                </a:solidFill>
                <a:latin typeface="Microsoft YaHei"/>
                <a:ea typeface="Microsoft YaHei"/>
              </a:rPr>
              <a:t>④ 驻留竞争（eviction）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159752" y="5285231"/>
            <a:ext cx="4544568" cy="6309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880" b="0">
                <a:solidFill>
                  <a:srgbClr val="64748B"/>
                </a:solidFill>
                <a:latin typeface="Microsoft YaHei"/>
                <a:ea typeface="Microsoft YaHei"/>
              </a:rPr>
              <a:t>自建集群缓存容量有限，被</a:t>
            </a:r>
            <a:r>
              <a:rPr sz="880" b="1">
                <a:solidFill>
                  <a:srgbClr val="1F2937"/>
                </a:solidFill>
                <a:latin typeface="Microsoft YaHei"/>
                <a:ea typeface="Microsoft YaHei"/>
              </a:rPr>
              <a:t>全网用户流量逐出</a:t>
            </a:r>
            <a:r>
              <a:rPr sz="880" b="0">
                <a:solidFill>
                  <a:srgbClr val="64748B"/>
                </a:solidFill>
                <a:latin typeface="Microsoft YaHei"/>
                <a:ea typeface="Microsoft YaHei"/>
              </a:rPr>
              <a:t>——前缀不变 ≠ 命中。排布性 miss 与驻留性 miss 需分开度量、分开治理。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320040" y="6144768"/>
            <a:ext cx="11548872" cy="457200"/>
          </a:xfrm>
          <a:prstGeom prst="roundRect">
            <a:avLst>
              <a:gd name="adj" fmla="val 12000"/>
            </a:avLst>
          </a:prstGeom>
          <a:solidFill>
            <a:srgbClr val="FEE2E2"/>
          </a:solidFill>
          <a:ln w="12700">
            <a:solidFill>
              <a:srgbClr val="FCA5A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548640" y="6144768"/>
            <a:ext cx="11091672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1F2937"/>
                </a:solidFill>
                <a:latin typeface="Microsoft YaHei"/>
                <a:ea typeface="Microsoft YaHei"/>
              </a:rPr>
              <a:t>综上，缓存失效有两个来源：</a:t>
            </a:r>
            <a:r>
              <a:rPr sz="1000" b="1">
                <a:solidFill>
                  <a:srgbClr val="DC2626"/>
                </a:solidFill>
                <a:latin typeface="Microsoft YaHei"/>
                <a:ea typeface="Microsoft YaHei"/>
              </a:rPr>
              <a:t>问题① query级内容每次重写</a:t>
            </a:r>
            <a:r>
              <a:rPr sz="1000" b="0">
                <a:solidFill>
                  <a:srgbClr val="1F2937"/>
                </a:solidFill>
                <a:latin typeface="Microsoft YaHei"/>
                <a:ea typeface="Microsoft YaHei"/>
              </a:rPr>
              <a:t> ＋ </a:t>
            </a:r>
            <a:r>
              <a:rPr sz="1000" b="1">
                <a:solidFill>
                  <a:srgbClr val="DC2626"/>
                </a:solidFill>
                <a:latin typeface="Microsoft YaHei"/>
                <a:ea typeface="Microsoft YaHei"/>
              </a:rPr>
              <a:t>问题② 滑窗裁剪每轮改历史</a:t>
            </a:r>
            <a:r>
              <a:rPr sz="1000" b="0">
                <a:solidFill>
                  <a:srgbClr val="1F2937"/>
                </a:solidFill>
                <a:latin typeface="Microsoft YaHei"/>
                <a:ea typeface="Microsoft YaHei"/>
              </a:rPr>
              <a:t>；另有问题④ 驻留竞争需集群侧配合 —— 下页逐项治理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137160"/>
            <a:ext cx="1152144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1F2937"/>
                </a:solidFill>
                <a:latin typeface="Microsoft YaHei"/>
                <a:ea typeface="Microsoft YaHei"/>
              </a:rPr>
              <a:t>目标方案：上下文只增不改，</a:t>
            </a:r>
            <a:r>
              <a:rPr sz="2000" b="1">
                <a:solidFill>
                  <a:srgbClr val="2563EB"/>
                </a:solidFill>
                <a:latin typeface="Microsoft YaHei"/>
                <a:ea typeface="Microsoft YaHei"/>
              </a:rPr>
              <a:t>挑战 90%+ 命中率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0040" y="548640"/>
            <a:ext cx="115214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64748B"/>
                </a:solidFill>
                <a:latin typeface="Microsoft YaHei"/>
                <a:ea typeface="Microsoft YaHei"/>
              </a:rPr>
              <a:t>与现状图同构对照：</a:t>
            </a:r>
            <a:r>
              <a:rPr sz="950" b="1">
                <a:solidFill>
                  <a:srgbClr val="DC2626"/>
                </a:solidFill>
                <a:latin typeface="Microsoft YaHei"/>
                <a:ea typeface="Microsoft YaHei"/>
              </a:rPr>
              <a:t>治问题①③</a:t>
            </a:r>
            <a:r>
              <a:rPr sz="950" b="0">
                <a:solidFill>
                  <a:srgbClr val="64748B"/>
                </a:solidFill>
                <a:latin typeface="Microsoft YaHei"/>
                <a:ea typeface="Microsoft YaHei"/>
              </a:rPr>
              <a:t>（query级下沉，两条通道）· </a:t>
            </a:r>
            <a:r>
              <a:rPr sz="950" b="1">
                <a:solidFill>
                  <a:srgbClr val="DC2626"/>
                </a:solidFill>
                <a:latin typeface="Microsoft YaHei"/>
                <a:ea typeface="Microsoft YaHei"/>
              </a:rPr>
              <a:t>治问题②</a:t>
            </a:r>
            <a:r>
              <a:rPr sz="950" b="0">
                <a:solidFill>
                  <a:srgbClr val="64748B"/>
                </a:solidFill>
                <a:latin typeface="Microsoft YaHei"/>
                <a:ea typeface="Microsoft YaHei"/>
              </a:rPr>
              <a:t>（裁剪改造）· </a:t>
            </a:r>
            <a:r>
              <a:rPr sz="950" b="1">
                <a:solidFill>
                  <a:srgbClr val="DC2626"/>
                </a:solidFill>
                <a:latin typeface="Microsoft YaHei"/>
                <a:ea typeface="Microsoft YaHei"/>
              </a:rPr>
              <a:t>答问题④</a:t>
            </a:r>
            <a:r>
              <a:rPr sz="950" b="0">
                <a:solidFill>
                  <a:srgbClr val="64748B"/>
                </a:solidFill>
                <a:latin typeface="Microsoft YaHei"/>
                <a:ea typeface="Microsoft YaHei"/>
              </a:rPr>
              <a:t>（驻留诉求）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20040" y="896112"/>
            <a:ext cx="6537960" cy="3913632"/>
          </a:xfrm>
          <a:prstGeom prst="roundRect">
            <a:avLst>
              <a:gd name="adj" fmla="val 12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978408"/>
            <a:ext cx="621792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1F2937"/>
                </a:solidFill>
                <a:latin typeface="Microsoft YaHei"/>
                <a:ea typeface="Microsoft YaHei"/>
              </a:rPr>
              <a:t>同一物理序列，改动点逐行标注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75488" y="1298448"/>
            <a:ext cx="1005840" cy="1517903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64748B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21208" y="1298448"/>
            <a:ext cx="914400" cy="151790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1F2937"/>
                </a:solidFill>
                <a:latin typeface="Microsoft YaHei"/>
                <a:ea typeface="Microsoft YaHei"/>
              </a:rPr>
              <a:t>① System Prompt</a:t>
            </a:r>
          </a:p>
          <a:p>
            <a:pPr algn="ctr">
              <a:lnSpc>
                <a:spcPct val="100000"/>
              </a:lnSpc>
            </a:pPr>
            <a:r>
              <a:rPr sz="750" b="0">
                <a:solidFill>
                  <a:srgbClr val="64748B"/>
                </a:solidFill>
                <a:latin typeface="Microsoft YaHei"/>
                <a:ea typeface="Microsoft YaHei"/>
              </a:rPr>
              <a:t>仅产品级+会话级，会话内字节不变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75488" y="2889503"/>
            <a:ext cx="1005840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64748B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21208" y="2889503"/>
            <a:ext cx="9144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1F2937"/>
                </a:solidFill>
                <a:latin typeface="Microsoft YaHei"/>
                <a:ea typeface="Microsoft YaHei"/>
              </a:rPr>
              <a:t>② Tools</a:t>
            </a:r>
          </a:p>
          <a:p>
            <a:pPr algn="ctr">
              <a:lnSpc>
                <a:spcPct val="100000"/>
              </a:lnSpc>
            </a:pPr>
            <a:r>
              <a:rPr sz="750" b="0">
                <a:solidFill>
                  <a:srgbClr val="64748B"/>
                </a:solidFill>
                <a:latin typeface="Microsoft YaHei"/>
                <a:ea typeface="Microsoft YaHei"/>
              </a:rPr>
              <a:t>独立字段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75488" y="3419856"/>
            <a:ext cx="1005840" cy="987551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64748B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21208" y="3419856"/>
            <a:ext cx="914400" cy="98755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1F2937"/>
                </a:solidFill>
                <a:latin typeface="Microsoft YaHei"/>
                <a:ea typeface="Microsoft YaHei"/>
              </a:rPr>
              <a:t>③ UAT</a:t>
            </a:r>
          </a:p>
          <a:p>
            <a:pPr algn="ctr">
              <a:lnSpc>
                <a:spcPct val="100000"/>
              </a:lnSpc>
            </a:pPr>
            <a:r>
              <a:rPr sz="750" b="0">
                <a:solidFill>
                  <a:srgbClr val="64748B"/>
                </a:solidFill>
                <a:latin typeface="Microsoft YaHei"/>
                <a:ea typeface="Microsoft YaHei"/>
              </a:rPr>
              <a:t>messages 消息流（loop级）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572768" y="1298448"/>
            <a:ext cx="4553712" cy="457200"/>
          </a:xfrm>
          <a:prstGeom prst="roundRect">
            <a:avLst>
              <a:gd name="adj" fmla="val 12000"/>
            </a:avLst>
          </a:prstGeom>
          <a:solidFill>
            <a:srgbClr val="F8FAFC"/>
          </a:solidFill>
          <a:ln w="12700">
            <a:solidFill>
              <a:srgbClr val="6EE7B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682495" y="1298448"/>
            <a:ext cx="1051560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059669"/>
                </a:solidFill>
                <a:latin typeface="Microsoft YaHei"/>
                <a:ea typeface="Microsoft YaHei"/>
              </a:rPr>
              <a:t>产品级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79776" y="1298448"/>
            <a:ext cx="3227832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850" b="0">
                <a:solidFill>
                  <a:srgbClr val="64748B"/>
                </a:solidFill>
                <a:latin typeface="Microsoft YaHei"/>
                <a:ea typeface="Microsoft YaHei"/>
              </a:rPr>
              <a:t>agent 关键原则</a:t>
            </a:r>
            <a:r>
              <a:rPr sz="800" b="1">
                <a:solidFill>
                  <a:srgbClr val="059669"/>
                </a:solidFill>
                <a:latin typeface="Microsoft YaHei"/>
                <a:ea typeface="Microsoft YaHei"/>
              </a:rPr>
              <a:t>　【不变】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572768" y="1828800"/>
            <a:ext cx="4553712" cy="457200"/>
          </a:xfrm>
          <a:prstGeom prst="roundRect">
            <a:avLst>
              <a:gd name="adj" fmla="val 12000"/>
            </a:avLst>
          </a:prstGeom>
          <a:solidFill>
            <a:srgbClr val="F8FAFC"/>
          </a:solidFill>
          <a:ln w="12700">
            <a:solidFill>
              <a:srgbClr val="6EE7B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682495" y="1828800"/>
            <a:ext cx="1051560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059669"/>
                </a:solidFill>
                <a:latin typeface="Microsoft YaHei"/>
                <a:ea typeface="Microsoft YaHei"/>
              </a:rPr>
              <a:t>会话级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79776" y="1828800"/>
            <a:ext cx="3227832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850" b="0">
                <a:solidFill>
                  <a:srgbClr val="64748B"/>
                </a:solidFill>
                <a:latin typeface="Microsoft YaHei"/>
                <a:ea typeface="Microsoft YaHei"/>
              </a:rPr>
              <a:t>用户信息、长期记忆，会话冻结、更新攒批</a:t>
            </a:r>
            <a:r>
              <a:rPr sz="800" b="1">
                <a:solidFill>
                  <a:srgbClr val="059669"/>
                </a:solidFill>
                <a:latin typeface="Microsoft YaHei"/>
                <a:ea typeface="Microsoft YaHei"/>
              </a:rPr>
              <a:t>　【策略化】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572768" y="2359152"/>
            <a:ext cx="4553712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FCA5A5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682495" y="2359152"/>
            <a:ext cx="1051560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DC2626"/>
                </a:solidFill>
                <a:latin typeface="Microsoft YaHei"/>
                <a:ea typeface="Microsoft YaHei"/>
              </a:rPr>
              <a:t>query级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779776" y="2359152"/>
            <a:ext cx="3227832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850" b="1">
                <a:solidFill>
                  <a:srgbClr val="1F2937"/>
                </a:solidFill>
                <a:latin typeface="Microsoft YaHei"/>
                <a:ea typeface="Microsoft YaHei"/>
              </a:rPr>
              <a:t>槽位已取消</a:t>
            </a:r>
            <a:r>
              <a:rPr sz="850" b="0">
                <a:solidFill>
                  <a:srgbClr val="64748B"/>
                </a:solidFill>
                <a:latin typeface="Microsoft YaHei"/>
                <a:ea typeface="Microsoft YaHei"/>
              </a:rPr>
              <a:t> → 内容经两条通道下沉至 UAT（见右侧）</a:t>
            </a:r>
            <a:r>
              <a:rPr sz="800" b="1">
                <a:solidFill>
                  <a:srgbClr val="DC2626"/>
                </a:solidFill>
                <a:latin typeface="Microsoft YaHei"/>
                <a:ea typeface="Microsoft YaHei"/>
              </a:rPr>
              <a:t>　【取消 · 治①③】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572768" y="2889503"/>
            <a:ext cx="4553712" cy="457200"/>
          </a:xfrm>
          <a:prstGeom prst="roundRect">
            <a:avLst>
              <a:gd name="adj" fmla="val 12000"/>
            </a:avLst>
          </a:prstGeom>
          <a:solidFill>
            <a:srgbClr val="FEF3C7"/>
          </a:solidFill>
          <a:ln w="12700">
            <a:solidFill>
              <a:srgbClr val="FCD3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682495" y="2889503"/>
            <a:ext cx="1051560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D97706"/>
                </a:solidFill>
                <a:latin typeface="Microsoft YaHei"/>
                <a:ea typeface="Microsoft YaHei"/>
              </a:rPr>
              <a:t>Tools块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779776" y="2889503"/>
            <a:ext cx="3227832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850" b="0">
                <a:solidFill>
                  <a:srgbClr val="64748B"/>
                </a:solidFill>
                <a:latin typeface="Microsoft YaHei"/>
                <a:ea typeface="Microsoft YaHei"/>
              </a:rPr>
              <a:t>前方不再有改写位置，</a:t>
            </a:r>
            <a:r>
              <a:rPr sz="850" b="1">
                <a:solidFill>
                  <a:srgbClr val="1F2937"/>
                </a:solidFill>
                <a:latin typeface="Microsoft YaHei"/>
                <a:ea typeface="Microsoft YaHei"/>
              </a:rPr>
              <a:t>稳定命中</a:t>
            </a:r>
            <a:r>
              <a:rPr sz="800" b="1">
                <a:solidFill>
                  <a:srgbClr val="059669"/>
                </a:solidFill>
                <a:latin typeface="Microsoft YaHei"/>
                <a:ea typeface="Microsoft YaHei"/>
              </a:rPr>
              <a:t>　【被解救 ✓】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572768" y="3419856"/>
            <a:ext cx="4553712" cy="457200"/>
          </a:xfrm>
          <a:prstGeom prst="roundRect">
            <a:avLst>
              <a:gd name="adj" fmla="val 12000"/>
            </a:avLst>
          </a:prstGeom>
          <a:solidFill>
            <a:srgbClr val="D1FAE5"/>
          </a:solidFill>
          <a:ln w="12700">
            <a:solidFill>
              <a:srgbClr val="6EE7B7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682495" y="3419856"/>
            <a:ext cx="1051560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059669"/>
                </a:solidFill>
                <a:latin typeface="Microsoft YaHei"/>
                <a:ea typeface="Microsoft YaHei"/>
              </a:rPr>
              <a:t>已裁剪区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779776" y="3419856"/>
            <a:ext cx="3227832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850" b="0">
                <a:solidFill>
                  <a:srgbClr val="64748B"/>
                </a:solidFill>
                <a:latin typeface="Microsoft YaHei"/>
                <a:ea typeface="Microsoft YaHei"/>
              </a:rPr>
              <a:t>按长度水位、一次裁足，裁剪由</a:t>
            </a:r>
            <a:r>
              <a:rPr sz="850" b="1">
                <a:solidFill>
                  <a:srgbClr val="1F2937"/>
                </a:solidFill>
                <a:latin typeface="Microsoft YaHei"/>
                <a:ea typeface="Microsoft YaHei"/>
              </a:rPr>
              <a:t>每轮降为几十轮一次</a:t>
            </a:r>
            <a:r>
              <a:rPr sz="800" b="1">
                <a:solidFill>
                  <a:srgbClr val="2563EB"/>
                </a:solidFill>
                <a:latin typeface="Microsoft YaHei"/>
                <a:ea typeface="Microsoft YaHei"/>
              </a:rPr>
              <a:t>　【改造 · 治②】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572768" y="3950208"/>
            <a:ext cx="4553712" cy="457200"/>
          </a:xfrm>
          <a:prstGeom prst="roundRect">
            <a:avLst>
              <a:gd name="adj" fmla="val 12000"/>
            </a:avLst>
          </a:prstGeom>
          <a:solidFill>
            <a:srgbClr val="DBEAFE"/>
          </a:solidFill>
          <a:ln w="12700">
            <a:solidFill>
              <a:srgbClr val="93C5F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682495" y="3950208"/>
            <a:ext cx="1051560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2563EB"/>
                </a:solidFill>
                <a:latin typeface="Microsoft YaHei"/>
                <a:ea typeface="Microsoft YaHei"/>
              </a:rPr>
              <a:t>loop原文＋追加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779776" y="3950208"/>
            <a:ext cx="3227832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850" b="0">
                <a:solidFill>
                  <a:srgbClr val="64748B"/>
                </a:solidFill>
                <a:latin typeface="Microsoft YaHei"/>
                <a:ea typeface="Microsoft YaHei"/>
              </a:rPr>
              <a:t>U（turn_context）→[A⇄T（search/load）]→A，仅为增量付 prefill</a:t>
            </a:r>
            <a:r>
              <a:rPr sz="800" b="1">
                <a:solidFill>
                  <a:srgbClr val="2563EB"/>
                </a:solidFill>
                <a:latin typeface="Microsoft YaHei"/>
                <a:ea typeface="Microsoft YaHei"/>
              </a:rPr>
              <a:t>　【注入增强】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236208" y="1298448"/>
            <a:ext cx="457200" cy="3108959"/>
          </a:xfrm>
          <a:prstGeom prst="roundRect">
            <a:avLst>
              <a:gd name="adj" fmla="val 12000"/>
            </a:avLst>
          </a:prstGeom>
          <a:solidFill>
            <a:srgbClr val="D1FAE5"/>
          </a:solidFill>
          <a:ln w="12700">
            <a:solidFill>
              <a:srgbClr val="6EE7B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vert="eaVert"/>
          <a:lstStyle/>
          <a:p>
            <a:pPr algn="ctr"/>
            <a:r>
              <a:rPr sz="800" b="1">
                <a:solidFill>
                  <a:srgbClr val="047857"/>
                </a:solidFill>
                <a:latin typeface="Microsoft YaHei"/>
                <a:ea typeface="Microsoft YaHei"/>
              </a:rPr>
              <a:t>✓ 每轮前缀 = 上一轮严格超集，排布性 miss 归零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02920" y="4498847"/>
            <a:ext cx="621792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850" b="0">
                <a:solidFill>
                  <a:srgbClr val="64748B"/>
                </a:solidFill>
                <a:latin typeface="Microsoft YaHei"/>
                <a:ea typeface="Microsoft YaHei"/>
              </a:rPr>
              <a:t>对照上页现状图逐行阅读：query级槽位取消后，System Prompt 与 Tools 在会话内完全静态；UAT 只增不改，动态内容全部经右侧两条通道进入消息流。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995160" y="896112"/>
            <a:ext cx="4873752" cy="2377440"/>
          </a:xfrm>
          <a:prstGeom prst="roundRect">
            <a:avLst>
              <a:gd name="adj" fmla="val 12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159752" y="978408"/>
            <a:ext cx="4544568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1F2937"/>
                </a:solidFill>
                <a:latin typeface="Microsoft YaHei"/>
                <a:ea typeface="Microsoft YaHei"/>
              </a:rPr>
              <a:t>通道一 · 被动注入：</a:t>
            </a:r>
            <a:r>
              <a:rPr sz="1050" b="1">
                <a:solidFill>
                  <a:srgbClr val="2563EB"/>
                </a:solidFill>
                <a:latin typeface="Microsoft YaHei"/>
                <a:ea typeface="Microsoft YaHei"/>
              </a:rPr>
              <a:t>turn_context 随 U 进入</a:t>
            </a:r>
            <a:r>
              <a:rPr sz="850" b="1">
                <a:solidFill>
                  <a:srgbClr val="DC2626"/>
                </a:solidFill>
                <a:latin typeface="Microsoft YaHei"/>
                <a:ea typeface="Microsoft YaHei"/>
              </a:rPr>
              <a:t>　治①③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159752" y="1280160"/>
            <a:ext cx="4544568" cy="1170432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269480" y="1344168"/>
            <a:ext cx="4325112" cy="10607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800" b="0">
                <a:solidFill>
                  <a:srgbClr val="64748B"/>
                </a:solidFill>
                <a:latin typeface="Consolas"/>
                <a:ea typeface="Microsoft YaHei"/>
              </a:rPr>
              <a:t>&lt;turn_context&gt;</a:t>
            </a:r>
          </a:p>
          <a:p>
            <a:pPr algn="l">
              <a:lnSpc>
                <a:spcPct val="112000"/>
              </a:lnSpc>
            </a:pPr>
            <a:r>
              <a:rPr sz="800" b="0">
                <a:solidFill>
                  <a:srgbClr val="2563EB"/>
                </a:solidFill>
                <a:latin typeface="Consolas"/>
                <a:ea typeface="Microsoft YaHei"/>
              </a:rPr>
              <a:t>  &lt;env&gt;</a:t>
            </a:r>
            <a:r>
              <a:rPr sz="800" b="0">
                <a:solidFill>
                  <a:srgbClr val="1F2937"/>
                </a:solidFill>
                <a:latin typeface="Consolas"/>
                <a:ea typeface="Microsoft YaHei"/>
              </a:rPr>
              <a:t>环境增量（首轮全量快照，此后只注增量）</a:t>
            </a:r>
            <a:r>
              <a:rPr sz="800" b="0">
                <a:solidFill>
                  <a:srgbClr val="2563EB"/>
                </a:solidFill>
                <a:latin typeface="Consolas"/>
                <a:ea typeface="Microsoft YaHei"/>
              </a:rPr>
              <a:t>&lt;/env&gt;</a:t>
            </a:r>
          </a:p>
          <a:p>
            <a:pPr algn="l">
              <a:lnSpc>
                <a:spcPct val="112000"/>
              </a:lnSpc>
            </a:pPr>
            <a:r>
              <a:rPr sz="800" b="0">
                <a:solidFill>
                  <a:srgbClr val="059669"/>
                </a:solidFill>
                <a:latin typeface="Consolas"/>
                <a:ea typeface="Microsoft YaHei"/>
              </a:rPr>
              <a:t>  &lt;retrieved&gt;</a:t>
            </a:r>
            <a:r>
              <a:rPr sz="800" b="0">
                <a:solidFill>
                  <a:srgbClr val="1F2937"/>
                </a:solidFill>
                <a:latin typeface="Consolas"/>
                <a:ea typeface="Microsoft YaHei"/>
              </a:rPr>
              <a:t>相关知识/用户信息（ID 去重，只注新条目）</a:t>
            </a:r>
            <a:r>
              <a:rPr sz="800" b="0">
                <a:solidFill>
                  <a:srgbClr val="059669"/>
                </a:solidFill>
                <a:latin typeface="Consolas"/>
                <a:ea typeface="Microsoft YaHei"/>
              </a:rPr>
              <a:t>&lt;/retrieved&gt;</a:t>
            </a:r>
          </a:p>
          <a:p>
            <a:pPr algn="l">
              <a:lnSpc>
                <a:spcPct val="112000"/>
              </a:lnSpc>
            </a:pPr>
            <a:r>
              <a:rPr sz="800" b="0">
                <a:solidFill>
                  <a:srgbClr val="D97706"/>
                </a:solidFill>
                <a:latin typeface="Consolas"/>
                <a:ea typeface="Microsoft YaHei"/>
              </a:rPr>
              <a:t>  &lt;skills&gt;</a:t>
            </a:r>
            <a:r>
              <a:rPr sz="800" b="0">
                <a:solidFill>
                  <a:srgbClr val="1F2937"/>
                </a:solidFill>
                <a:latin typeface="Consolas"/>
                <a:ea typeface="Microsoft YaHei"/>
              </a:rPr>
              <a:t>available skills（方案 A 的注入位置）</a:t>
            </a:r>
            <a:r>
              <a:rPr sz="800" b="0">
                <a:solidFill>
                  <a:srgbClr val="D97706"/>
                </a:solidFill>
                <a:latin typeface="Consolas"/>
                <a:ea typeface="Microsoft YaHei"/>
              </a:rPr>
              <a:t>&lt;/skills&gt;</a:t>
            </a:r>
          </a:p>
          <a:p>
            <a:pPr algn="l">
              <a:lnSpc>
                <a:spcPct val="112000"/>
              </a:lnSpc>
            </a:pPr>
            <a:r>
              <a:rPr sz="800" b="0">
                <a:solidFill>
                  <a:srgbClr val="64748B"/>
                </a:solidFill>
                <a:latin typeface="Consolas"/>
                <a:ea typeface="Microsoft YaHei"/>
              </a:rPr>
              <a:t>&lt;/turn_context&gt;</a:t>
            </a:r>
          </a:p>
          <a:p>
            <a:pPr algn="l">
              <a:lnSpc>
                <a:spcPct val="112000"/>
              </a:lnSpc>
            </a:pPr>
            <a:r>
              <a:rPr sz="800" b="0">
                <a:solidFill>
                  <a:srgbClr val="2563EB"/>
                </a:solidFill>
                <a:latin typeface="Consolas"/>
                <a:ea typeface="Microsoft YaHei"/>
              </a:rPr>
              <a:t>&lt;query&gt;</a:t>
            </a:r>
            <a:r>
              <a:rPr sz="800" b="0">
                <a:solidFill>
                  <a:srgbClr val="1F2937"/>
                </a:solidFill>
                <a:latin typeface="Consolas"/>
                <a:ea typeface="Microsoft YaHei"/>
              </a:rPr>
              <a:t>用户原文，永远置于消息最后</a:t>
            </a:r>
            <a:r>
              <a:rPr sz="800" b="0">
                <a:solidFill>
                  <a:srgbClr val="2563EB"/>
                </a:solidFill>
                <a:latin typeface="Consolas"/>
                <a:ea typeface="Microsoft YaHei"/>
              </a:rPr>
              <a:t>&lt;/query&gt;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159752" y="2523744"/>
            <a:ext cx="4544568" cy="6766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880" b="0">
                <a:solidFill>
                  <a:srgbClr val="64748B"/>
                </a:solidFill>
                <a:latin typeface="Microsoft YaHei"/>
                <a:ea typeface="Microsoft YaHei"/>
              </a:rPr>
              <a:t>序列化完全确定性（标签与排序固定、空块省略、发出后永不回改）；检索内容与 query </a:t>
            </a:r>
            <a:r>
              <a:rPr sz="880" b="1">
                <a:solidFill>
                  <a:srgbClr val="1F2937"/>
                </a:solidFill>
                <a:latin typeface="Microsoft YaHei"/>
                <a:ea typeface="Microsoft YaHei"/>
              </a:rPr>
              <a:t>物理相邻、留在时间线</a:t>
            </a:r>
            <a:r>
              <a:rPr sz="880" b="0">
                <a:solidFill>
                  <a:srgbClr val="64748B"/>
                </a:solidFill>
                <a:latin typeface="Microsoft YaHei"/>
                <a:ea typeface="Microsoft YaHei"/>
              </a:rPr>
              <a:t>——同时治问题③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995160" y="3364992"/>
            <a:ext cx="4873752" cy="1444752"/>
          </a:xfrm>
          <a:prstGeom prst="roundRect">
            <a:avLst>
              <a:gd name="adj" fmla="val 12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159752" y="3447288"/>
            <a:ext cx="4544568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1F2937"/>
                </a:solidFill>
                <a:latin typeface="Microsoft YaHei"/>
                <a:ea typeface="Microsoft YaHei"/>
              </a:rPr>
              <a:t>通道二 · 主动加载：</a:t>
            </a:r>
            <a:r>
              <a:rPr sz="1050" b="1">
                <a:solidFill>
                  <a:srgbClr val="059669"/>
                </a:solidFill>
                <a:latin typeface="Microsoft YaHei"/>
                <a:ea typeface="Microsoft YaHei"/>
              </a:rPr>
              <a:t>skills 以 T 进入 loop</a:t>
            </a:r>
            <a:r>
              <a:rPr sz="850" b="1">
                <a:solidFill>
                  <a:srgbClr val="DC2626"/>
                </a:solidFill>
                <a:latin typeface="Microsoft YaHei"/>
                <a:ea typeface="Microsoft YaHei"/>
              </a:rPr>
              <a:t>　治①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159752" y="3730752"/>
            <a:ext cx="4544568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30" b="0">
                <a:solidFill>
                  <a:srgbClr val="1F2937"/>
                </a:solidFill>
                <a:latin typeface="Consolas"/>
                <a:ea typeface="Microsoft YaHei"/>
              </a:rPr>
              <a:t>search_skill(query) → T: available skills → load_skill(name) → T: 正文（load 沿用现状）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159752" y="3986784"/>
            <a:ext cx="4544568" cy="7863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880" b="0">
                <a:solidFill>
                  <a:srgbClr val="64748B"/>
                </a:solidFill>
                <a:latin typeface="Microsoft YaHei"/>
                <a:ea typeface="Microsoft YaHei"/>
              </a:rPr>
              <a:t>· 方案 A（先行）：保留系统侧 skill search，结果随 U 注入，只改注入位置、检索链路不动</a:t>
            </a:r>
          </a:p>
          <a:p>
            <a:pPr algn="l">
              <a:lnSpc>
                <a:spcPct val="110000"/>
              </a:lnSpc>
            </a:pPr>
            <a:r>
              <a:rPr sz="880" b="0">
                <a:solidFill>
                  <a:srgbClr val="64748B"/>
                </a:solidFill>
                <a:latin typeface="Microsoft YaHei"/>
                <a:ea typeface="Microsoft YaHei"/>
              </a:rPr>
              <a:t>· 方案 B（演进）：search 工具化，模型自主决定检索时机与关键词，可按阶段多次检索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320040" y="4919472"/>
            <a:ext cx="5682996" cy="786384"/>
          </a:xfrm>
          <a:prstGeom prst="roundRect">
            <a:avLst>
              <a:gd name="adj" fmla="val 12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84632" y="4992624"/>
            <a:ext cx="5353812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1F2937"/>
                </a:solidFill>
                <a:latin typeface="Microsoft YaHei"/>
                <a:ea typeface="Microsoft YaHei"/>
              </a:rPr>
              <a:t>裁剪机制改造</a:t>
            </a:r>
            <a:r>
              <a:rPr sz="850" b="1">
                <a:solidFill>
                  <a:srgbClr val="DC2626"/>
                </a:solidFill>
                <a:latin typeface="Microsoft YaHei"/>
                <a:ea typeface="Microsoft YaHei"/>
              </a:rPr>
              <a:t>　治②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84632" y="5230368"/>
            <a:ext cx="5353812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860" b="0">
                <a:solidFill>
                  <a:srgbClr val="64748B"/>
                </a:solidFill>
                <a:latin typeface="Microsoft YaHei"/>
                <a:ea typeface="Microsoft YaHei"/>
              </a:rPr>
              <a:t>触发：按轮数（10 轮）→ 按 token 长度水位；比例：一次裁足到低水位（80% 触发、裁至 40%）；T 与 UAT 攒批同刻处理。效果：裁剪从每轮降为几十轮一次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6185916" y="4919472"/>
            <a:ext cx="5682996" cy="786384"/>
          </a:xfrm>
          <a:prstGeom prst="roundRect">
            <a:avLst>
              <a:gd name="adj" fmla="val 12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350508" y="4992624"/>
            <a:ext cx="5353812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1F2937"/>
                </a:solidFill>
                <a:latin typeface="Microsoft YaHei"/>
                <a:ea typeface="Microsoft YaHei"/>
              </a:rPr>
              <a:t>对推理集群的诉求</a:t>
            </a:r>
            <a:r>
              <a:rPr sz="850" b="1">
                <a:solidFill>
                  <a:srgbClr val="DC2626"/>
                </a:solidFill>
                <a:latin typeface="Microsoft YaHei"/>
                <a:ea typeface="Microsoft YaHei"/>
              </a:rPr>
              <a:t>　答④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350508" y="5230368"/>
            <a:ext cx="5353812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860" b="0">
                <a:solidFill>
                  <a:srgbClr val="64748B"/>
                </a:solidFill>
                <a:latin typeface="Microsoft YaHei"/>
                <a:ea typeface="Microsoft YaHei"/>
              </a:rPr>
              <a:t>诉求一：同一多轮对话及 loop 内，KV cache 会话存续期内不被逐出；诉求二：命中率按排布性 / 驻留性拆分度量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320040" y="5779008"/>
            <a:ext cx="3727704" cy="658368"/>
          </a:xfrm>
          <a:prstGeom prst="roundRect">
            <a:avLst>
              <a:gd name="adj" fmla="val 12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411479" y="5843016"/>
            <a:ext cx="3544824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059669"/>
                </a:solidFill>
                <a:latin typeface="Microsoft YaHei"/>
                <a:ea typeface="Microsoft YaHei"/>
              </a:rPr>
              <a:t>66% → ~92%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11479" y="6144768"/>
            <a:ext cx="3544824" cy="24688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850" b="0">
                <a:solidFill>
                  <a:srgbClr val="64748B"/>
                </a:solidFill>
                <a:latin typeface="Microsoft YaHei"/>
                <a:ea typeface="Microsoft YaHei"/>
              </a:rPr>
              <a:t>命中率：现网实测 → 目标预估（miss 12K → ~3K / 请求）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4230624" y="5779008"/>
            <a:ext cx="3727704" cy="658368"/>
          </a:xfrm>
          <a:prstGeom prst="roundRect">
            <a:avLst>
              <a:gd name="adj" fmla="val 12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322064" y="5843016"/>
            <a:ext cx="3544824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059669"/>
                </a:solidFill>
                <a:latin typeface="Microsoft YaHei"/>
                <a:ea typeface="Microsoft YaHei"/>
              </a:rPr>
              <a:t>-56%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322064" y="6144768"/>
            <a:ext cx="3544824" cy="24688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850" b="0">
                <a:solidFill>
                  <a:srgbClr val="64748B"/>
                </a:solidFill>
                <a:latin typeface="Microsoft YaHei"/>
                <a:ea typeface="Microsoft YaHei"/>
              </a:rPr>
              <a:t>每请求等效输入成本：14.5K → 6.4K 等效 token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8141208" y="5779008"/>
            <a:ext cx="3727704" cy="658368"/>
          </a:xfrm>
          <a:prstGeom prst="roundRect">
            <a:avLst>
              <a:gd name="adj" fmla="val 12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8232648" y="5843016"/>
            <a:ext cx="3544824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059669"/>
                </a:solidFill>
                <a:latin typeface="Microsoft YaHei"/>
                <a:ea typeface="Microsoft YaHei"/>
              </a:rPr>
              <a:t>-75%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232648" y="6144768"/>
            <a:ext cx="3544824" cy="24688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850" b="0">
                <a:solidFill>
                  <a:srgbClr val="64748B"/>
                </a:solidFill>
                <a:latin typeface="Microsoft YaHei"/>
                <a:ea typeface="Microsoft YaHei"/>
              </a:rPr>
              <a:t>每请求 prefill 计算量：12K → 3K，TTFT 与吞吐同步改善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320040" y="6492240"/>
            <a:ext cx="11548872" cy="310896"/>
          </a:xfrm>
          <a:prstGeom prst="roundRect">
            <a:avLst>
              <a:gd name="adj" fmla="val 12000"/>
            </a:avLst>
          </a:prstGeom>
          <a:solidFill>
            <a:srgbClr val="DBEAFE"/>
          </a:solidFill>
          <a:ln w="12700">
            <a:solidFill>
              <a:srgbClr val="93C5F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548640" y="6492240"/>
            <a:ext cx="11091672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1F2937"/>
                </a:solidFill>
                <a:latin typeface="Microsoft YaHei"/>
                <a:ea typeface="Microsoft YaHei"/>
              </a:rPr>
              <a:t>落地节奏：① 命中率拆分度量 → ② 裁剪改造 → ③ skills 迁移 → ④ 结构化注入 → ⑤ 驻留治理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