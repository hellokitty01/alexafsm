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F2937"/>
                </a:solidFill>
                <a:latin typeface="Microsoft YaHei"/>
                <a:ea typeface="Microsoft YaHei"/>
              </a:rPr>
              <a:t>现状与问题：</a:t>
            </a:r>
            <a:r>
              <a:rPr sz="2000" b="1">
                <a:solidFill>
                  <a:srgbClr val="2563EB"/>
                </a:solidFill>
                <a:latin typeface="Microsoft YaHei"/>
                <a:ea typeface="Microsoft YaHei"/>
              </a:rPr>
              <a:t>命中率为何只有 66%</a:t>
            </a:r>
            <a:r>
              <a:rPr sz="2000" b="1">
                <a:solidFill>
                  <a:srgbClr val="1F2937"/>
                </a:solidFill>
                <a:latin typeface="Microsoft YaHei"/>
                <a:ea typeface="Microsoft YaHei"/>
              </a:rPr>
              <a:t> —— 失效范围含 Tools 与全部历史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658368"/>
            <a:ext cx="3727704" cy="7132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722376"/>
            <a:ext cx="35448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D97706"/>
                </a:solidFill>
                <a:latin typeface="Microsoft YaHei"/>
                <a:ea typeface="Microsoft YaHei"/>
              </a:rPr>
              <a:t>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1024128"/>
            <a:ext cx="35448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现网 KV cache 命中率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30624" y="658368"/>
            <a:ext cx="3727704" cy="7132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2064" y="722376"/>
            <a:ext cx="35448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37K / 25K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2064" y="1024128"/>
            <a:ext cx="35448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平均每请求输入 / 命中（miss 12K）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1208" y="658368"/>
            <a:ext cx="3727704" cy="7132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2648" y="722376"/>
            <a:ext cx="35448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~60K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32648" y="1024128"/>
            <a:ext cx="3544824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会话上下文规模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481328"/>
            <a:ext cx="6537960" cy="449884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57276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</a:rPr>
              <a:t>三个独立实体的物理拼接（自上而下 = 前缀从前到后）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1938528"/>
            <a:ext cx="1005840" cy="157276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1938528"/>
            <a:ext cx="914400" cy="1572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① System Prompt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</a:rPr>
              <a:t>单字段：产品/会话/query级拼于正文内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584448"/>
            <a:ext cx="10058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3584448"/>
            <a:ext cx="914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② Tools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</a:rPr>
              <a:t>独立字段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4133087"/>
            <a:ext cx="1005840" cy="157276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133087"/>
            <a:ext cx="914400" cy="1572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③ UAT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</a:rPr>
              <a:t>messages 消息流（loop级）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2768" y="1938528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82495" y="1938528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59669"/>
                </a:solidFill>
                <a:latin typeface="Microsoft YaHei"/>
                <a:ea typeface="Microsoft YaHei"/>
              </a:rPr>
              <a:t>产品级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9776" y="1938528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agent 关键原则，所有用户相同 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2768" y="2487168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82495" y="2487168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59669"/>
                </a:solidFill>
                <a:latin typeface="Microsoft YaHei"/>
                <a:ea typeface="Microsoft YaHei"/>
              </a:rPr>
              <a:t>会话级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2487168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用户信息、长期记忆，多轮更新一次 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72768" y="3035808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82495" y="3035808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C2626"/>
                </a:solidFill>
                <a:latin typeface="Microsoft YaHei"/>
                <a:ea typeface="Microsoft YaHei"/>
              </a:rPr>
              <a:t>query级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9776" y="3035808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available skills（基于 query 搜索）+ 相关知识/用户信息 + 环境上下文，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每 query 原位重写 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72768" y="3584448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82495" y="3584448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97706"/>
                </a:solidFill>
                <a:latin typeface="Microsoft YaHei"/>
                <a:ea typeface="Microsoft YaHei"/>
              </a:rPr>
              <a:t>Tools块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9776" y="3584448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内容稳定，但模板拼接于 SP 之后 → 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被 query级重写连带 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133087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82495" y="4133087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loop 1（最旧）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9776" y="4133087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U→[A⇄T ×n]→A　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⚡10 轮滑窗从此裁剪，每轮再断一次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72768" y="4681728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82495" y="4681728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loop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9776" y="4681728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U→[A⇄T ×n]→A，loop 内迭代可命中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72768" y="5230368"/>
            <a:ext cx="4553712" cy="47548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93C5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82495" y="5230368"/>
            <a:ext cx="10515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loop 3 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9776" y="5230368"/>
            <a:ext cx="32278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追加中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3035808"/>
            <a:ext cx="457200" cy="2670048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vert="eaVert"/>
          <a:lstStyle/>
          <a:p>
            <a:pPr algn="ctr"/>
            <a:r>
              <a:rPr sz="800" b="1">
                <a:solidFill>
                  <a:srgbClr val="B91C1C"/>
                </a:solidFill>
                <a:latin typeface="Microsoft YaHei"/>
                <a:ea typeface="Microsoft YaHei"/>
              </a:rPr>
              <a:t>⚡ 每 query 从此失效：query级 + Tools + UAT 全部历史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797296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loop 内部：U query → A call ⇄ T result ×n → A 答复　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新 query（loop 切换）= miss 点</a:t>
            </a: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｜</a:t>
            </a:r>
            <a:r>
              <a:rPr sz="850" b="1">
                <a:solidFill>
                  <a:srgbClr val="059669"/>
                </a:solidFill>
                <a:latin typeface="Microsoft YaHei"/>
                <a:ea typeface="Microsoft YaHei"/>
              </a:rPr>
              <a:t>loop 内迭代 = 追加命中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95160" y="1481328"/>
            <a:ext cx="4873752" cy="1042415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9752" y="1563624"/>
            <a:ext cx="4544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  <a:ea typeface="Microsoft YaHei"/>
              </a:rPr>
              <a:t>① query 切换点全量 miss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59752" y="1828800"/>
            <a:ext cx="4544568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query级内容重写 → 失效 = </a:t>
            </a:r>
            <a:r>
              <a:rPr sz="880" b="1">
                <a:solidFill>
                  <a:srgbClr val="1F2937"/>
                </a:solidFill>
                <a:latin typeface="Microsoft YaHei"/>
                <a:ea typeface="Microsoft YaHei"/>
              </a:rPr>
              <a:t>query级 + Tools + UAT 全部历史</a:t>
            </a: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，随轮数线性增长；Tools 内容稳定却被连带重算。loop 内可命中，损失集中在每个新 query 首轮。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95160" y="2633472"/>
            <a:ext cx="4873752" cy="1042415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59752" y="2715768"/>
            <a:ext cx="4544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  <a:ea typeface="Microsoft YaHei"/>
              </a:rPr>
              <a:t>② 10 轮滑窗裁剪 = 长对话每轮全量 miss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59752" y="2980944"/>
            <a:ext cx="4544568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聊过 10 轮后</a:t>
            </a:r>
            <a:r>
              <a:rPr sz="880" b="1">
                <a:solidFill>
                  <a:srgbClr val="1F2937"/>
                </a:solidFill>
                <a:latin typeface="Microsoft YaHei"/>
                <a:ea typeface="Microsoft YaHei"/>
              </a:rPr>
              <a:t>每新一轮裁最旧一轮</a:t>
            </a: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，前缀头部每轮变化；T 体积大（skill 正文）被单独高频裁剪。</a:t>
            </a:r>
            <a:r>
              <a:rPr sz="880" b="1">
                <a:solidFill>
                  <a:srgbClr val="1F2937"/>
                </a:solidFill>
                <a:latin typeface="Microsoft YaHei"/>
                <a:ea typeface="Microsoft YaHei"/>
              </a:rPr>
              <a:t>长对话阶段比①更严重。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3785615"/>
            <a:ext cx="4873752" cy="1042415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9752" y="3867911"/>
            <a:ext cx="4544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  <a:ea typeface="Microsoft YaHei"/>
              </a:rPr>
              <a:t>③ 相关性绑定丢失 + 历史证据被覆盖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59752" y="4133087"/>
            <a:ext cx="4544568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query级槽位与 query </a:t>
            </a:r>
            <a:r>
              <a:rPr sz="880" b="1">
                <a:solidFill>
                  <a:srgbClr val="1F2937"/>
                </a:solidFill>
                <a:latin typeface="Microsoft YaHei"/>
                <a:ea typeface="Microsoft YaHei"/>
              </a:rPr>
              <a:t>无显式对应</a:t>
            </a: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；每轮覆盖式更新，第 N 轮依赖第 N-2 轮检索结果时证据已丢，</a:t>
            </a:r>
            <a:r>
              <a:rPr sz="880" b="1">
                <a:solidFill>
                  <a:srgbClr val="1F2937"/>
                </a:solidFill>
                <a:latin typeface="Microsoft YaHei"/>
                <a:ea typeface="Microsoft YaHei"/>
              </a:rPr>
              <a:t>去重无从谈起。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60" y="4937759"/>
            <a:ext cx="4873752" cy="1042415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59752" y="5020055"/>
            <a:ext cx="4544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  <a:ea typeface="Microsoft YaHei"/>
              </a:rPr>
              <a:t>④ 驻留竞争（eviction）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9752" y="5285231"/>
            <a:ext cx="4544568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自建集群缓存容量有限，被</a:t>
            </a:r>
            <a:r>
              <a:rPr sz="880" b="1">
                <a:solidFill>
                  <a:srgbClr val="1F2937"/>
                </a:solidFill>
                <a:latin typeface="Microsoft YaHei"/>
                <a:ea typeface="Microsoft YaHei"/>
              </a:rPr>
              <a:t>全网用户流量逐出</a:t>
            </a: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——前缀不变 ≠ 命中。排布性 miss 与驻留性 miss 需分开度量、分开治理。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" y="6144768"/>
            <a:ext cx="11548872" cy="45720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</a:rPr>
              <a:t>综上，缓存失效有两个来源：</a:t>
            </a:r>
            <a:r>
              <a:rPr sz="1000" b="1">
                <a:solidFill>
                  <a:srgbClr val="DC2626"/>
                </a:solidFill>
                <a:latin typeface="Microsoft YaHei"/>
                <a:ea typeface="Microsoft YaHei"/>
              </a:rPr>
              <a:t>问题① query级内容每次重写</a:t>
            </a: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</a:rPr>
              <a:t> ＋ </a:t>
            </a:r>
            <a:r>
              <a:rPr sz="1000" b="1">
                <a:solidFill>
                  <a:srgbClr val="DC2626"/>
                </a:solidFill>
                <a:latin typeface="Microsoft YaHei"/>
                <a:ea typeface="Microsoft YaHei"/>
              </a:rPr>
              <a:t>问题② 滑窗裁剪每轮改历史</a:t>
            </a: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</a:rPr>
              <a:t>；另有问题④ 驻留竞争需集群侧配合 —— 下页逐项治理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1521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F2937"/>
                </a:solidFill>
                <a:latin typeface="Microsoft YaHei"/>
                <a:ea typeface="Microsoft YaHei"/>
              </a:rPr>
              <a:t>目标方案：上下文只增不改，</a:t>
            </a:r>
            <a:r>
              <a:rPr sz="2000" b="1">
                <a:solidFill>
                  <a:srgbClr val="2563EB"/>
                </a:solidFill>
                <a:latin typeface="Microsoft YaHei"/>
                <a:ea typeface="Microsoft YaHei"/>
              </a:rPr>
              <a:t>挑战 90%+ 命中率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48640"/>
            <a:ext cx="11521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与现状图同构对照：</a:t>
            </a:r>
            <a:r>
              <a:rPr sz="950" b="1">
                <a:solidFill>
                  <a:srgbClr val="DC2626"/>
                </a:solidFill>
                <a:latin typeface="Microsoft YaHei"/>
                <a:ea typeface="Microsoft YaHei"/>
              </a:rPr>
              <a:t>治问题①③</a:t>
            </a: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（query级下沉，两条通道）· </a:t>
            </a:r>
            <a:r>
              <a:rPr sz="950" b="1">
                <a:solidFill>
                  <a:srgbClr val="DC2626"/>
                </a:solidFill>
                <a:latin typeface="Microsoft YaHei"/>
                <a:ea typeface="Microsoft YaHei"/>
              </a:rPr>
              <a:t>治问题②</a:t>
            </a: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（裁剪改造）· </a:t>
            </a:r>
            <a:r>
              <a:rPr sz="950" b="1">
                <a:solidFill>
                  <a:srgbClr val="DC2626"/>
                </a:solidFill>
                <a:latin typeface="Microsoft YaHei"/>
                <a:ea typeface="Microsoft YaHei"/>
              </a:rPr>
              <a:t>答问题④</a:t>
            </a: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（驻留诉求）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896112"/>
            <a:ext cx="6537960" cy="391363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7840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</a:rPr>
              <a:t>同一物理序列，改动点逐行标注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298448"/>
            <a:ext cx="1005840" cy="151790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298448"/>
            <a:ext cx="914400" cy="15179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① System Prompt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</a:rPr>
              <a:t>仅产品级+会话级，会话内字节不变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2889503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2889503"/>
            <a:ext cx="914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② Tools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</a:rPr>
              <a:t>独立字段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3419856"/>
            <a:ext cx="1005840" cy="98755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3419856"/>
            <a:ext cx="914400" cy="987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③ UAT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4748B"/>
                </a:solidFill>
                <a:latin typeface="Microsoft YaHei"/>
                <a:ea typeface="Microsoft YaHei"/>
              </a:rPr>
              <a:t>messages 消息流（loop级）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1298448"/>
            <a:ext cx="4553712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82495" y="1298448"/>
            <a:ext cx="105156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59669"/>
                </a:solidFill>
                <a:latin typeface="Microsoft YaHei"/>
                <a:ea typeface="Microsoft YaHei"/>
              </a:rPr>
              <a:t>产品级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776" y="1298448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agent 关键原则</a:t>
            </a:r>
            <a:r>
              <a:rPr sz="800" b="1">
                <a:solidFill>
                  <a:srgbClr val="059669"/>
                </a:solidFill>
                <a:latin typeface="Microsoft YaHei"/>
                <a:ea typeface="Microsoft YaHei"/>
              </a:rPr>
              <a:t>　【不变】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72768" y="1828800"/>
            <a:ext cx="4553712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5" y="1828800"/>
            <a:ext cx="105156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59669"/>
                </a:solidFill>
                <a:latin typeface="Microsoft YaHei"/>
                <a:ea typeface="Microsoft YaHei"/>
              </a:rPr>
              <a:t>会话级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9776" y="182880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用户信息、长期记忆，会话冻结、更新攒批</a:t>
            </a:r>
            <a:r>
              <a:rPr sz="800" b="1">
                <a:solidFill>
                  <a:srgbClr val="059669"/>
                </a:solidFill>
                <a:latin typeface="Microsoft YaHei"/>
                <a:ea typeface="Microsoft YaHei"/>
              </a:rPr>
              <a:t>　【策略化】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72768" y="2359152"/>
            <a:ext cx="4553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82495" y="2359152"/>
            <a:ext cx="105156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C2626"/>
                </a:solidFill>
                <a:latin typeface="Microsoft YaHei"/>
                <a:ea typeface="Microsoft YaHei"/>
              </a:rPr>
              <a:t>query级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" y="2359152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>
                <a:solidFill>
                  <a:srgbClr val="1F2937"/>
                </a:solidFill>
                <a:latin typeface="Microsoft YaHei"/>
                <a:ea typeface="Microsoft YaHei"/>
              </a:rPr>
              <a:t>槽位已取消</a:t>
            </a: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 → 内容经两条通道下沉至 UAT（见右侧）</a:t>
            </a:r>
            <a:r>
              <a:rPr sz="800" b="1">
                <a:solidFill>
                  <a:srgbClr val="DC2626"/>
                </a:solidFill>
                <a:latin typeface="Microsoft YaHei"/>
                <a:ea typeface="Microsoft YaHei"/>
              </a:rPr>
              <a:t>　【取消 · 治①③】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72768" y="2889503"/>
            <a:ext cx="4553712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82495" y="2889503"/>
            <a:ext cx="105156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97706"/>
                </a:solidFill>
                <a:latin typeface="Microsoft YaHei"/>
                <a:ea typeface="Microsoft YaHei"/>
              </a:rPr>
              <a:t>Tools块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9776" y="2889503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前方不再有改写位置，</a:t>
            </a:r>
            <a:r>
              <a:rPr sz="850" b="1">
                <a:solidFill>
                  <a:srgbClr val="1F2937"/>
                </a:solidFill>
                <a:latin typeface="Microsoft YaHei"/>
                <a:ea typeface="Microsoft YaHei"/>
              </a:rPr>
              <a:t>稳定命中</a:t>
            </a:r>
            <a:r>
              <a:rPr sz="800" b="1">
                <a:solidFill>
                  <a:srgbClr val="059669"/>
                </a:solidFill>
                <a:latin typeface="Microsoft YaHei"/>
                <a:ea typeface="Microsoft YaHei"/>
              </a:rPr>
              <a:t>　【被解救 ✓】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72768" y="3419856"/>
            <a:ext cx="4553712" cy="4572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6EE7B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82495" y="3419856"/>
            <a:ext cx="105156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59669"/>
                </a:solidFill>
                <a:latin typeface="Microsoft YaHei"/>
                <a:ea typeface="Microsoft YaHei"/>
              </a:rPr>
              <a:t>已裁剪区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9776" y="3419856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按长度水位、一次裁足，裁剪由</a:t>
            </a:r>
            <a:r>
              <a:rPr sz="850" b="1">
                <a:solidFill>
                  <a:srgbClr val="1F2937"/>
                </a:solidFill>
                <a:latin typeface="Microsoft YaHei"/>
                <a:ea typeface="Microsoft YaHei"/>
              </a:rPr>
              <a:t>每轮降为几十轮一次</a:t>
            </a:r>
            <a:r>
              <a:rPr sz="800" b="1">
                <a:solidFill>
                  <a:srgbClr val="2563EB"/>
                </a:solidFill>
                <a:latin typeface="Microsoft YaHei"/>
                <a:ea typeface="Microsoft YaHei"/>
              </a:rPr>
              <a:t>　【改造 · 治②】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72768" y="3950208"/>
            <a:ext cx="4553712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82495" y="3950208"/>
            <a:ext cx="105156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loop原文＋追加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9776" y="3950208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U（turn_context）→[A⇄T（search/load）]→A，仅为增量付 prefill</a:t>
            </a:r>
            <a:r>
              <a:rPr sz="800" b="1">
                <a:solidFill>
                  <a:srgbClr val="2563EB"/>
                </a:solidFill>
                <a:latin typeface="Microsoft YaHei"/>
                <a:ea typeface="Microsoft YaHei"/>
              </a:rPr>
              <a:t>　【注入增强】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6208" y="1298448"/>
            <a:ext cx="457200" cy="3108959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vert="eaVert"/>
          <a:lstStyle/>
          <a:p>
            <a:pPr algn="ctr"/>
            <a:r>
              <a:rPr sz="800" b="1">
                <a:solidFill>
                  <a:srgbClr val="047857"/>
                </a:solidFill>
                <a:latin typeface="Microsoft YaHei"/>
                <a:ea typeface="Microsoft YaHei"/>
              </a:rPr>
              <a:t>✓ 每轮前缀 = 上一轮严格超集，排布性 miss 归零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98847"/>
            <a:ext cx="6217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对照上页现状图逐行阅读：query级槽位取消后，System Prompt 与 Tools 在会话内完全静态；UAT 只增不改，动态内容全部经右侧两条通道进入消息流。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95160" y="896112"/>
            <a:ext cx="4873752" cy="239572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9752" y="978408"/>
            <a:ext cx="4544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</a:rPr>
              <a:t>通道一 · 被动注入：</a:t>
            </a: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</a:rPr>
              <a:t>turn_context 随 U 进入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　治①③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9752" y="1280160"/>
            <a:ext cx="4544568" cy="11155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1335024"/>
            <a:ext cx="4325112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64748B"/>
                </a:solidFill>
                <a:latin typeface="Consolas"/>
                <a:ea typeface="Microsoft YaHei"/>
              </a:rPr>
              <a:t>&lt;turn_context&gt;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563EB"/>
                </a:solidFill>
                <a:latin typeface="Consolas"/>
                <a:ea typeface="Microsoft YaHei"/>
              </a:rPr>
              <a:t>  &lt;env&gt;</a:t>
            </a:r>
            <a:r>
              <a:rPr sz="800" b="0">
                <a:solidFill>
                  <a:srgbClr val="1F2937"/>
                </a:solidFill>
                <a:latin typeface="Consolas"/>
                <a:ea typeface="Microsoft YaHei"/>
              </a:rPr>
              <a:t>环境增量（首轮全量快照，此后只注增量）</a:t>
            </a:r>
            <a:r>
              <a:rPr sz="800" b="0">
                <a:solidFill>
                  <a:srgbClr val="2563EB"/>
                </a:solidFill>
                <a:latin typeface="Consolas"/>
                <a:ea typeface="Microsoft YaHei"/>
              </a:rPr>
              <a:t>&lt;/env&gt;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059669"/>
                </a:solidFill>
                <a:latin typeface="Consolas"/>
                <a:ea typeface="Microsoft YaHei"/>
              </a:rPr>
              <a:t>  &lt;retrieved&gt;</a:t>
            </a:r>
            <a:r>
              <a:rPr sz="800" b="0">
                <a:solidFill>
                  <a:srgbClr val="1F2937"/>
                </a:solidFill>
                <a:latin typeface="Consolas"/>
                <a:ea typeface="Microsoft YaHei"/>
              </a:rPr>
              <a:t>相关知识/用户信息（ID 去重，只注新条目）</a:t>
            </a:r>
            <a:r>
              <a:rPr sz="800" b="0">
                <a:solidFill>
                  <a:srgbClr val="059669"/>
                </a:solidFill>
                <a:latin typeface="Consolas"/>
                <a:ea typeface="Microsoft YaHei"/>
              </a:rPr>
              <a:t>&lt;/retrieved&gt;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D97706"/>
                </a:solidFill>
                <a:latin typeface="Consolas"/>
                <a:ea typeface="Microsoft YaHei"/>
              </a:rPr>
              <a:t>  &lt;skills&gt;</a:t>
            </a:r>
            <a:r>
              <a:rPr sz="800" b="0">
                <a:solidFill>
                  <a:srgbClr val="1F2937"/>
                </a:solidFill>
                <a:latin typeface="Consolas"/>
                <a:ea typeface="Microsoft YaHei"/>
              </a:rPr>
              <a:t>available skills（方案 A 的注入位置）</a:t>
            </a:r>
            <a:r>
              <a:rPr sz="800" b="0">
                <a:solidFill>
                  <a:srgbClr val="D97706"/>
                </a:solidFill>
                <a:latin typeface="Consolas"/>
                <a:ea typeface="Microsoft YaHei"/>
              </a:rPr>
              <a:t>&lt;/skills&gt;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4748B"/>
                </a:solidFill>
                <a:latin typeface="Consolas"/>
                <a:ea typeface="Microsoft YaHei"/>
              </a:rPr>
              <a:t>&lt;/turn_context&gt;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2563EB"/>
                </a:solidFill>
                <a:latin typeface="Consolas"/>
                <a:ea typeface="Microsoft YaHei"/>
              </a:rPr>
              <a:t>&lt;query&gt;</a:t>
            </a:r>
            <a:r>
              <a:rPr sz="800" b="0">
                <a:solidFill>
                  <a:srgbClr val="1F2937"/>
                </a:solidFill>
                <a:latin typeface="Consolas"/>
                <a:ea typeface="Microsoft YaHei"/>
              </a:rPr>
              <a:t>用户原文，永远置于消息最后</a:t>
            </a:r>
            <a:r>
              <a:rPr sz="800" b="0">
                <a:solidFill>
                  <a:srgbClr val="2563EB"/>
                </a:solidFill>
                <a:latin typeface="Consolas"/>
                <a:ea typeface="Microsoft YaHei"/>
              </a:rPr>
              <a:t>&lt;/query&gt;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9752" y="2450592"/>
            <a:ext cx="454456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</a:rPr>
              <a:t>· 拼接结果逐字节稳定：标签顺序/条目排序固定、空块不输出、发出后不再修改（否则缓存悄悄失效）</a:t>
            </a:r>
          </a:p>
          <a:p>
            <a:pPr algn="l">
              <a:lnSpc>
                <a:spcPct val="112000"/>
              </a:lnSpc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</a:rPr>
              <a:t>· 检索内容与 query </a:t>
            </a:r>
            <a:r>
              <a:rPr sz="840" b="1">
                <a:solidFill>
                  <a:srgbClr val="1F2937"/>
                </a:solidFill>
                <a:latin typeface="Microsoft YaHei"/>
                <a:ea typeface="Microsoft YaHei"/>
              </a:rPr>
              <a:t>同消息相邻、永久留在历史</a:t>
            </a: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</a:rPr>
              <a:t>：对应关系模型可见，可去重、可审计（治问题③）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95160" y="3364992"/>
            <a:ext cx="4873752" cy="144475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9752" y="3447288"/>
            <a:ext cx="4544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</a:rPr>
              <a:t>通道二 · 主动加载：</a:t>
            </a:r>
            <a:r>
              <a:rPr sz="1050" b="1">
                <a:solidFill>
                  <a:srgbClr val="059669"/>
                </a:solidFill>
                <a:latin typeface="Microsoft YaHei"/>
                <a:ea typeface="Microsoft YaHei"/>
              </a:rPr>
              <a:t>skills 以 T 进入 loop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　治①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752" y="3730752"/>
            <a:ext cx="4544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1F2937"/>
                </a:solidFill>
                <a:latin typeface="Consolas"/>
                <a:ea typeface="Microsoft YaHei"/>
              </a:rPr>
              <a:t>search_skill(query) → T: available skills → load_skill(name) → T: 正文（load 沿用现状）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59752" y="3986784"/>
            <a:ext cx="454456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· 方案 A（先行）：保留系统侧 skill search，结果随 U 注入，只改注入位置、检索链路不动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64748B"/>
                </a:solidFill>
                <a:latin typeface="Microsoft YaHei"/>
                <a:ea typeface="Microsoft YaHei"/>
              </a:rPr>
              <a:t>· 方案 B（演进）：search 工具化，模型自主决定检索时机与关键词，可按阶段多次检索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0040" y="4919472"/>
            <a:ext cx="5682996" cy="78638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" y="4992624"/>
            <a:ext cx="53538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裁剪机制改造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　治②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5230368"/>
            <a:ext cx="53538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0">
                <a:solidFill>
                  <a:srgbClr val="64748B"/>
                </a:solidFill>
                <a:latin typeface="Microsoft YaHei"/>
                <a:ea typeface="Microsoft YaHei"/>
              </a:rPr>
              <a:t>触发：按轮数（10 轮）→ 按 token 长度水位；比例：一次裁足到低水位（80% 触发、裁至 40%）；T 与 UAT 攒批同刻处理。效果：裁剪从每轮降为几十轮一次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85916" y="4919472"/>
            <a:ext cx="5682996" cy="78638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0508" y="4992624"/>
            <a:ext cx="53538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对推理集群的诉求</a:t>
            </a:r>
            <a:r>
              <a:rPr sz="850" b="1">
                <a:solidFill>
                  <a:srgbClr val="DC2626"/>
                </a:solidFill>
                <a:latin typeface="Microsoft YaHei"/>
                <a:ea typeface="Microsoft YaHei"/>
              </a:rPr>
              <a:t>　答④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0508" y="5230368"/>
            <a:ext cx="53538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0">
                <a:solidFill>
                  <a:srgbClr val="64748B"/>
                </a:solidFill>
                <a:latin typeface="Microsoft YaHei"/>
                <a:ea typeface="Microsoft YaHei"/>
              </a:rPr>
              <a:t>诉求一：同一多轮对话及 loop 内，KV cache 会话存续期内不被逐出；诉求二：命中率按排布性 / 驻留性拆分度量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0040" y="5779008"/>
            <a:ext cx="3727704" cy="65836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79" y="5843016"/>
            <a:ext cx="35448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66% → ~92%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79" y="6144768"/>
            <a:ext cx="3544824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命中率：现网实测 → 目标预估（miss 12K → ~3K / 请求）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30624" y="5779008"/>
            <a:ext cx="3727704" cy="65836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22064" y="5843016"/>
            <a:ext cx="35448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-56%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22064" y="6144768"/>
            <a:ext cx="3544824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每请求等效输入成本：14.5K → 6.4K 等效 token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41208" y="5779008"/>
            <a:ext cx="3727704" cy="658368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32648" y="5843016"/>
            <a:ext cx="35448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2648" y="6144768"/>
            <a:ext cx="3544824" cy="246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每请求 prefill 计算量：12K → 3K，TTFT 与吞吐同步改善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0040" y="6492240"/>
            <a:ext cx="11548872" cy="310896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6492240"/>
            <a:ext cx="110916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F2937"/>
                </a:solidFill>
                <a:latin typeface="Microsoft YaHei"/>
                <a:ea typeface="Microsoft YaHei"/>
              </a:rPr>
              <a:t>落地节奏：① 命中率拆分度量 → ② 裁剪改造 → ③ skills 迁移 → ④ 结构化注入 → ⑤ 驻留治理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