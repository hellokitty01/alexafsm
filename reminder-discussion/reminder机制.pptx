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402336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100" b="1">
                <a:solidFill>
                  <a:srgbClr val="1E2A3D"/>
                </a:solidFill>
                <a:latin typeface="Microsoft YaHei"/>
                <a:ea typeface="Microsoft YaHei"/>
              </a:rPr>
              <a:t>Reminder 机制 · 业界洞察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5A6B84"/>
                </a:solidFill>
                <a:latin typeface="Microsoft YaHei"/>
                <a:ea typeface="Microsoft YaHei"/>
              </a:rPr>
              <a:t>内部代号：notion 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46304"/>
            <a:ext cx="7287768" cy="713232"/>
          </a:xfrm>
          <a:prstGeom prst="roundRect">
            <a:avLst>
              <a:gd name="adj" fmla="val 4500"/>
            </a:avLst>
          </a:prstGeom>
          <a:solidFill>
            <a:srgbClr val="ECF2FC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09160" y="201168"/>
            <a:ext cx="69494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1">
                <a:solidFill>
                  <a:srgbClr val="1E2A3D"/>
                </a:solidFill>
                <a:latin typeface="Microsoft YaHei"/>
                <a:ea typeface="Microsoft YaHei"/>
              </a:rPr>
              <a:t>定义：</a:t>
            </a:r>
            <a:r>
              <a:rPr sz="950" b="0">
                <a:solidFill>
                  <a:srgbClr val="5A6B84"/>
                </a:solidFill>
                <a:latin typeface="Microsoft YaHei"/>
                <a:ea typeface="Microsoft YaHei"/>
              </a:rPr>
              <a:t>agent loop 运行期间，由系统向消息流注入的短小、结构化指令/状态块 —— agent 的二级指令通道。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1">
                <a:solidFill>
                  <a:srgbClr val="0EA578"/>
                </a:solidFill>
                <a:latin typeface="Microsoft YaHei"/>
                <a:ea typeface="Microsoft YaHei"/>
              </a:rPr>
              <a:t>system prompt 是入职培训（primacy，静态），reminder 是定期备忘录（recency，事件触发）。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87552"/>
            <a:ext cx="5577840" cy="29992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1E2A3D"/>
                </a:solidFill>
                <a:latin typeface="Microsoft YaHei"/>
                <a:ea typeface="Microsoft YaHei"/>
              </a:rPr>
              <a:t>● 业界三条路线（按“谁来提醒”划分）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08176"/>
          <a:ext cx="5248654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784"/>
                <a:gridCol w="1574596"/>
                <a:gridCol w="2834274"/>
              </a:tblGrid>
              <a:tr h="3886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路线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代表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机制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系统注入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Claude Code
&lt;system-reminder&gt;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40+ 种事件触发器生成提醒，附着到 user message / tool result，一条不进 system prompt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自我复诵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Manus recitation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模型反复重写 todo.md 到上下文尾部，把全局计划推入高注意力区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API 原生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Anthropic memory / compaction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笔记持久化、服务端压缩做成 API 原语；实测 agent 搜索 +39%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383280"/>
            <a:ext cx="5212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>
                <a:solidFill>
                  <a:srgbClr val="0EA578"/>
                </a:solidFill>
                <a:latin typeface="Microsoft YaHei"/>
                <a:ea typeface="Microsoft YaHei"/>
              </a:rPr>
              <a:t>◎ 前置契约：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在 system prompt 预声明标签语义（系统的话、与所附着消息无关、无需回复）。权威等级：</a:t>
            </a: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reminder &gt; 用户 &gt; 工具数据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，兼具抗注入价值。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987552"/>
            <a:ext cx="5577840" cy="29992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078992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0EA578"/>
                </a:solidFill>
                <a:latin typeface="Microsoft YaHei"/>
                <a:ea typeface="Microsoft YaHei"/>
              </a:rPr>
              <a:t>● 解决的四个结构性问题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5080" y="1408176"/>
          <a:ext cx="524865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4704"/>
                <a:gridCol w="2046975"/>
                <a:gridCol w="2046975"/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表现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reminder 解法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注意力几何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lost-in-the-middle，中段指令被淹没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关键信息重注入 recency 高注意力区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Context rot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~80K token 后指令遵循度下降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事件触发式规则刷新，在相关时刻重申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状态漂移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基于过期环境状态决策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环境增量主动推送（文件变更、模式切换）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缓存失效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动态内容改写前缀，全量 miss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一律 append 消息流尾部，前缀纹丝不动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84048" y="4187952"/>
            <a:ext cx="11420856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279392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D97A06"/>
                </a:solidFill>
                <a:latin typeface="Microsoft YaHei"/>
                <a:ea typeface="Microsoft YaHei"/>
              </a:rPr>
              <a:t>● 注入位置：三种载体，一条铁律 —— 事件发生在哪个时机，就搭哪班车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608576"/>
          <a:ext cx="6492239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8137"/>
                <a:gridCol w="2596896"/>
                <a:gridCol w="2337206"/>
              </a:tblGrid>
              <a:tr h="43434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载体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适用时机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F6FED"/>
                          </a:solidFill>
                          <a:latin typeface="Microsoft YaHei"/>
                          <a:ea typeface="Microsoft YaHei"/>
                        </a:rPr>
                        <a:t>典型内容</a:t>
                      </a:r>
                    </a:p>
                  </a:txBody>
                  <a:tcPr marL="63500" marR="63500" marT="25400" marB="25400">
                    <a:solidFill>
                      <a:srgbClr val="ECF2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随 user message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用户新一轮 query 到来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时间/环境等动态上下文、模式切换、检索命中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随 tool result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loop 执行中发生事件（模型决策前唯一的新输入）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文件外部被修改、安全提醒、隐私字段标识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1E2A3D"/>
                          </a:solidFill>
                          <a:latin typeface="Microsoft YaHei"/>
                          <a:ea typeface="Microsoft YaHei"/>
                        </a:rPr>
                        <a:t>合成 user message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无自然载体（会话恢复、压缩后、用户插话）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5A6B84"/>
                          </a:solidFill>
                          <a:latin typeface="Microsoft YaHei"/>
                          <a:ea typeface="Microsoft YaHei"/>
                        </a:rPr>
                        <a:t>上下文块、压缩后目标重申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242048" y="4590288"/>
            <a:ext cx="4389120" cy="1783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不能注入的位置：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assistant message（伪造模型发言）；凭空的 tool result（必须对应真实 tool_use id，只能“随”不能“造”）；system prompt（缓存）。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0EA578"/>
                </a:solidFill>
                <a:latin typeface="Microsoft YaHei"/>
                <a:ea typeface="Microsoft YaHei"/>
              </a:rPr>
              <a:t>◎ 铁律：</a:t>
            </a:r>
            <a:r>
              <a:rPr sz="900" b="0">
                <a:solidFill>
                  <a:srgbClr val="1E2A3D"/>
                </a:solidFill>
                <a:latin typeface="Microsoft YaHei"/>
                <a:ea typeface="Microsoft YaHei"/>
              </a:rPr>
              <a:t>只附着在 append 前沿（当前正要发出的新消息），绝不回头改历史消息 —— 否则其后 KV cache 全灭。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100" b="1">
                <a:solidFill>
                  <a:srgbClr val="1E2A3D"/>
                </a:solidFill>
                <a:latin typeface="Microsoft YaHei"/>
                <a:ea typeface="Microsoft YaHei"/>
              </a:rPr>
              <a:t>我们的两个实践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5A6B84"/>
                </a:solidFill>
                <a:latin typeface="Microsoft YaHei"/>
                <a:ea typeface="Microsoft YaHei"/>
              </a:rPr>
              <a:t>覆盖 reminder 的两大载体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146304"/>
            <a:ext cx="8019288" cy="713232"/>
          </a:xfrm>
          <a:prstGeom prst="roundRect">
            <a:avLst>
              <a:gd name="adj" fmla="val 4500"/>
            </a:avLst>
          </a:prstGeom>
          <a:solidFill>
            <a:srgbClr val="ECF2FC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39" y="201168"/>
            <a:ext cx="768096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5A6B84"/>
                </a:solidFill>
                <a:latin typeface="Microsoft YaHei"/>
                <a:ea typeface="Microsoft YaHei"/>
              </a:rPr>
              <a:t>tool result 侧约束</a:t>
            </a:r>
            <a:r>
              <a:rPr sz="950" b="1">
                <a:solidFill>
                  <a:srgbClr val="0EA578"/>
                </a:solidFill>
                <a:latin typeface="Microsoft YaHei"/>
                <a:ea typeface="Microsoft YaHei"/>
              </a:rPr>
              <a:t>输出行为</a:t>
            </a:r>
            <a:r>
              <a:rPr sz="950" b="0">
                <a:solidFill>
                  <a:srgbClr val="5A6B84"/>
                </a:solidFill>
                <a:latin typeface="Microsoft YaHei"/>
                <a:ea typeface="Microsoft YaHei"/>
              </a:rPr>
              <a:t>（什么不能给用户看），user 侧供给</a:t>
            </a:r>
            <a:r>
              <a:rPr sz="950" b="1">
                <a:solidFill>
                  <a:srgbClr val="0EA578"/>
                </a:solidFill>
                <a:latin typeface="Microsoft YaHei"/>
                <a:ea typeface="Microsoft YaHei"/>
              </a:rPr>
              <a:t>输入语境</a:t>
            </a:r>
            <a:r>
              <a:rPr sz="950" b="0">
                <a:solidFill>
                  <a:srgbClr val="5A6B84"/>
                </a:solidFill>
                <a:latin typeface="Microsoft YaHei"/>
                <a:ea typeface="Microsoft YaHei"/>
              </a:rPr>
              <a:t>（此刻用户在哪、现在几点）—— 前缀零改动，缓存全程命中。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87552"/>
            <a:ext cx="5577840" cy="5486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0EA578"/>
                </a:solidFill>
                <a:latin typeface="Microsoft YaHei"/>
                <a:ea typeface="Microsoft YaHei"/>
              </a:rPr>
              <a:t>实践一 · 随 tool result：隐私字段屏蔽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52120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问题：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工具中间结果含隐私字段（标识符、号码等），推理需要用，但不应呈现给用户；逐个改造工具脱敏代价高且切断推理链。</a:t>
            </a: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做法：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框架层随结果附加 reminder，工具零改动：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8B9AB0"/>
                </a:solidFill>
                <a:latin typeface="Consolas"/>
                <a:ea typeface="Microsoft YaHei"/>
              </a:rPr>
              <a:t>tool result: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{ "contacts": [ { "name": "张三",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    "phone": "13812341234", "uid": "u_8f3a92c1" } ] }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850" b="1">
                <a:solidFill>
                  <a:srgbClr val="0EA578"/>
                </a:solidFill>
                <a:latin typeface="Consolas"/>
                <a:ea typeface="Microsoft YaHei"/>
              </a:rPr>
              <a:t>&lt;system-reminder&gt;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0EA578"/>
                </a:solidFill>
                <a:latin typeface="Consolas"/>
                <a:ea typeface="Microsoft YaHei"/>
              </a:rPr>
              <a:t>以上结果中 phone / uid 为中间隐私字段，仅供你完成当前任务推理使用；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0EA578"/>
                </a:solidFill>
                <a:latin typeface="Consolas"/>
                <a:ea typeface="Microsoft YaHei"/>
              </a:rPr>
              <a:t>不得在给用户的回复中展示、复述或改写呈现。</a:t>
            </a:r>
          </a:p>
          <a:p>
            <a:pPr algn="l">
              <a:lnSpc>
                <a:spcPct val="112000"/>
              </a:lnSpc>
            </a:pPr>
            <a:r>
              <a:rPr sz="850" b="1">
                <a:solidFill>
                  <a:srgbClr val="0EA578"/>
                </a:solidFill>
                <a:latin typeface="Consolas"/>
                <a:ea typeface="Microsoft YaHei"/>
              </a:rPr>
              <a:t>&lt;/system-reminder&gt;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33672"/>
            <a:ext cx="52120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数据可用、不外泄：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数据留在上下文（后续调用可能还要用 uid），只约束呈现行为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就近生效：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约束紧贴数据出现的位置，遵循度远高于 system prompt 里泛化的“注意隐私”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权威等级清晰：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即使用户要求“把手机号发我”，模型有依据拒绝或走脱敏路径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987552"/>
            <a:ext cx="5577840" cy="5486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097280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2F6FED"/>
                </a:solidFill>
                <a:latin typeface="Microsoft YaHei"/>
                <a:ea typeface="Microsoft YaHei"/>
              </a:rPr>
              <a:t>实践二 · 随 user message：时间与前台应用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426464"/>
            <a:ext cx="52120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问题：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用户指代依赖此刻设备状态——“第4张照片”是哪张、“昨天”是哪天；这些每轮都变，进 system prompt 等于每轮全量 cache miss。</a:t>
            </a: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做法：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结构化前缀随当轮 user message 注入：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2286000"/>
            <a:ext cx="5212080" cy="7772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8B9AB0"/>
                </a:solidFill>
                <a:latin typeface="Consolas"/>
                <a:ea typeface="Microsoft YaHei"/>
              </a:rPr>
              <a:t>user: </a:t>
            </a:r>
            <a:r>
              <a:rPr sz="850" b="1">
                <a:solidFill>
                  <a:srgbClr val="2F6FED"/>
                </a:solidFill>
                <a:latin typeface="Consolas"/>
                <a:ea typeface="Microsoft YaHei"/>
              </a:rPr>
              <a:t>[用户输入时间：Tue 2026-08-25 15:43] [前台应用：图库]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给我详细描述一下第4张照片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227832"/>
            <a:ext cx="521208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指代消歧：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“第4张照片” → 前台是图库 → 当前视图第 4 张，无需反问、无需先调工具探测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相对时间解析：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“昨天 / 上周”有了锚点；时间精确到分钟也不破坏缓存（在尾部，不在前缀）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意图路由：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同一句话在不同前台应用下路由到不同 skill / 工具链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965191"/>
            <a:ext cx="52120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>
                <a:solidFill>
                  <a:srgbClr val="0EA578"/>
                </a:solidFill>
                <a:latin typeface="Microsoft YaHei"/>
                <a:ea typeface="Microsoft YaHei"/>
              </a:rPr>
              <a:t>◎ 设计要点：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只随当轮、不回改历史（append-only）；[键：值] 固定模板、字段顺序确定；system prompt 预声明“历史轮的值已过期，以最新一轮为准”；只放高频消歧字段，大体积环境信息走主动加载。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